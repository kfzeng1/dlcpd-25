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基于 DLCPD-25 的农产品病虫害与缺陷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分类目标检测系统 · 模型架构详解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BBDCCC"/>
                </a:solidFill>
                <a:latin typeface="Microsoft YaHei"/>
                <a:ea typeface="Microsoft YaHei"/>
              </a:rPr>
              <a:t>Plan-A 双专家模型：ConvNeXt-Tiny 分类 + ConvNeXt-Tiny-FPN Faster R-CNN 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A39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项目背景与任务定义</a:t>
            </a:r>
          </a:p>
        </p:txBody>
      </p:sp>
      <p:sp>
        <p:nvSpPr>
          <p:cNvPr id="7" name="Oval 6"/>
          <p:cNvSpPr/>
          <p:nvPr/>
        </p:nvSpPr>
        <p:spPr>
          <a:xfrm>
            <a:off x="649224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430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188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数据集概览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659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为什么从 v1 联合模型转向双专家模型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0" y="1920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659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Plan-A 总体架构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分类专家：ConvNeXt-Tiny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974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检测专家：ConvNeXt-Tiny-FPN + Faster R-CNN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4747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52043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训练策略与关键组件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747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52043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训练过程与最终测试指标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2519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297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与 v1 基线对比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519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297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推理系统与 Web 应用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5029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292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074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工程实现、限制与未来工作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项目背景与任务定义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任务一：DLCPD-25 细粒度分类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输入一张农作物图片，识别 203 类病虫害、健康状态与生理缺陷；输出 Top-5 类别。
类别空间：22 个宿主作物 × 4 类标签属性。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280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284C7"/>
                </a:solidFill>
                <a:latin typeface="Microsoft YaHei"/>
                <a:ea typeface="Microsoft YaHei"/>
              </a:rPr>
              <a:t>任务二：IP102 害虫目标检测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对图片中的农业害虫输出边界框和类别；检测空间为 96 类，检测结果映射回 DLCPD-25 公共 class_id。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Microsoft YaHei"/>
                <a:ea typeface="Microsoft YaHei"/>
              </a:rPr>
              <a:t>系统输出合同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Web 系统同时返回：整图 203 类 Top-5 分类 + 96 类害虫检测框 + 标注图。病害、健康和生理缺陷只有图像级标签，不做伪检测框。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数据集概览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DLCPD-25 分类数据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221,396 张图片；203 个细粒度类别；22 个宿主作物。
类别不均衡：单类 5 ~ 10,619 张。
划分：177,021 / 22,178 / 22,179。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28016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284C7"/>
                </a:solidFill>
                <a:latin typeface="Microsoft YaHei"/>
                <a:ea typeface="Microsoft YaHei"/>
              </a:rPr>
              <a:t>IP102 检测数据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18,976 个标注样本；22,283 个有效框；97 个源标签映射为 96 个检测类。
约 93% 图片为单目标；目标中位相对面积 0.35。
划分：12,142 / 3,036 / 3,798（官方 test 原样保留）。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设计启示：分类任务的核心矛盾是长尾分布；检测任务的核心矛盾是细粒度害虫外观相似 + 小目标。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Microsoft YaHei"/>
                <a:ea typeface="Microsoft YaHei"/>
              </a:rPr>
              <a:t>pest 农业有害生物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126 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11D48"/>
                </a:solidFill>
                <a:latin typeface="Microsoft YaHei"/>
                <a:ea typeface="Microsoft YaHei"/>
              </a:rPr>
              <a:t>disease 植物病害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57 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Microsoft YaHei"/>
                <a:ea typeface="Microsoft YaHei"/>
              </a:rPr>
              <a:t>healthy 健康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17 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999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4748B"/>
                </a:solidFill>
                <a:latin typeface="Microsoft YaHei"/>
                <a:ea typeface="Microsoft YaHei"/>
              </a:rPr>
              <a:t>disorder 生理缺陷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3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为什么从 v1 联合模型转向 Plan-A 双专家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212080" cy="32918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v1：共享 ResNet-50 联合模型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1965960"/>
            <a:ext cx="4389120" cy="640080"/>
          </a:xfrm>
          <a:prstGeom prst="roundRect">
            <a:avLst>
              <a:gd name="adj" fmla="val 20000"/>
            </a:avLst>
          </a:prstGeom>
          <a:solidFill>
            <a:srgbClr val="D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21408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ResNet-50 共享主干（224×224 直缩）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8803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017520"/>
            <a:ext cx="2057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203 类分类头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8803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017520"/>
            <a:ext cx="2057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Faster R-CNN 检测头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问题：224 直缩损失细粒度信息；任务共享主干互相干扰；检测 Precision 仅 68.9%。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5212080" cy="32918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0876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Plan-A：双专家解耦模型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965960"/>
            <a:ext cx="4389120" cy="640080"/>
          </a:xfrm>
          <a:prstGeom prst="roundRect">
            <a:avLst>
              <a:gd name="adj" fmla="val 20000"/>
            </a:avLst>
          </a:prstGeom>
          <a:solidFill>
            <a:srgbClr val="D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121408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分类专家：ConvNeXt-Tiny @ 384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20840" y="2880360"/>
            <a:ext cx="4389120" cy="640080"/>
          </a:xfrm>
          <a:prstGeom prst="roundRect">
            <a:avLst>
              <a:gd name="adj" fmla="val 20000"/>
            </a:avLst>
          </a:prstGeom>
          <a:solidFill>
            <a:srgbClr val="D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035808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检测专家：ConvNeXt-Tiny-FPN @ 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86200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优势：任务专属分辨率与采样；互不冻结、互不干扰；推理时统一编排输出。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Plan-A 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66360" y="1234440"/>
            <a:ext cx="182880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66360" y="13898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输入图片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60" y="2148840"/>
            <a:ext cx="1828800" cy="64008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66360" y="23042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EXIF 校正
RGB 转换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46120"/>
            <a:ext cx="4206240" cy="15544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分类专家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03320"/>
            <a:ext cx="3931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ConvNeXt-Tiny @ 384
主头 203 类 + 宿主/属性辅助头
输出 Top-5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3246120"/>
            <a:ext cx="4206240" cy="155448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33832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检测专家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3703320"/>
            <a:ext cx="3931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ConvNeXt-Tiny-FPN @ 640
Faster R-CNN：RPN + RoI Heads
输出 96 类害虫框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166360"/>
            <a:ext cx="5029200" cy="914400"/>
          </a:xfrm>
          <a:prstGeom prst="roundRect">
            <a:avLst>
              <a:gd name="adj" fmla="val 15000"/>
            </a:avLst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532180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结果融合：检测框映射 class_id 0..202
+ 整图 Top-5 + 标注图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1920240"/>
            <a:ext cx="0" cy="22860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017520" y="2788920"/>
            <a:ext cx="3063240" cy="45720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80760" y="2788920"/>
            <a:ext cx="3063240" cy="45720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17520" y="4800600"/>
            <a:ext cx="1828800" cy="36576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589520" y="4800600"/>
            <a:ext cx="1554480" cy="36576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分类专家：ConvNeXt-Tiny @ 384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输入：384×384×3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1874519"/>
            <a:ext cx="4480560" cy="594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ConvNeXt-Tiny Stem / 4 个 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2697480"/>
            <a:ext cx="4480560" cy="594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83464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Global Average Pooling + LayerNorm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520440"/>
            <a:ext cx="4480560" cy="594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65760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共享特征向量 768-d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43400"/>
            <a:ext cx="1417320" cy="77724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4988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主分类头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输出 203 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79191" y="4343400"/>
            <a:ext cx="141732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191" y="44988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宿主辅助头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输出 22 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5383" y="4343400"/>
            <a:ext cx="141732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3" y="44988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属性辅助头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输出 4 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ConvNeXt Block 核心组件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0" y="178308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组件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作用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7×7 Depthwise Conv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空间特征，参数少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LayerNorm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替代 BatchNorm，训练更稳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1×1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通道混合，倒置瓶颈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GELU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现代激活函数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Layer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稳定深层训练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/>
                        <a:t>Stochastic Depth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随机深度正则化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分类专家训练策略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长尾分类损失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Class-Balanced Focal Loss（γ=2）+ Label Smoothing；主损失与类别权重共同抑制头部类。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类别平衡采样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√逆频率采样器；在不扩数据的情况下提升尾类出现频率。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层级辅助监督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22 宿主头 + 4 属性头，仅训练时使用，帮助主干学习层级结构。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1480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优化与正则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AdamW；backbone lr=5e-5 / head lr=3e-4；warmup 3 epochs + cosine；EMA 0.999。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7492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训练与选择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40 轮计划，第 5 轮 val Macro-F1 最高 74.38，第 11 轮早停；测试集只评估一次。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检测专家：ConvNeXt-Tiny-FPN + Faster R-CNN @ 640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1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96ch, 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2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192ch, 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3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384ch, 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4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768ch, /32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88920"/>
            <a:ext cx="4937760" cy="685800"/>
          </a:xfrm>
          <a:prstGeom prst="roundRect">
            <a:avLst>
              <a:gd name="adj" fmla="val 20000"/>
            </a:avLst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FPN：P2~P6，统一 256 通道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FPN：P2~P6，统一 256 通道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RPN
候选框 + 前景/背景打分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7033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3886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RoIAlign + RoI Heads
96 类分类 + 框回归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4630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关键设计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74519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输入 640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保持宽高比缩放，禁止 224 直缩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532887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532887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骨干初始化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加载分类专家 best.pt 的 EMA 骨干权重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191256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191256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单目标场景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每图最多输出 30 框；NMS IoU=0.5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849624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849624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损失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RPN 分类/回归 + RoI 分类/回归联合训练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检测专家训练策略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Repeat Factor Sampling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按 √(Nmax/Nc) 重复采样稀有害虫图片，缓解 96 类长尾。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两阶段初始化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ConvNeXt 骨干来自分类模型；FPN/RPN/RoI Heads 随机初始化。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优化设置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AdamW；backbone lr=1e-5 / head lr=1e-4；warmup 1 epoch + cosine；EMA 0.999。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1480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模型选择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验证集 mAP@0.5:0.95；第 8 轮最佳 35.35；第 14 轮早停。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7492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COCO 评估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官方 test 保持隔离；maxDets=[1,10,100]；同时记录 AP50/AP75/AR。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训练过程曲线</a:t>
            </a:r>
          </a:p>
        </p:txBody>
      </p:sp>
      <p:pic>
        <p:nvPicPr>
          <p:cNvPr id="4" name="Picture 3" descr="classific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155680" cy="4259441"/>
          </a:xfrm>
          <a:prstGeom prst="rect">
            <a:avLst/>
          </a:prstGeom>
        </p:spPr>
      </p:pic>
      <p:pic>
        <p:nvPicPr>
          <p:cNvPr id="5" name="Picture 4" descr="detec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977639"/>
            <a:ext cx="11155680" cy="4259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最终测试集指标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6304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分类指标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状态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Top-1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89.2240%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达标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Top-5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97.7366%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优于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75.3537%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接近 v1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46304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检测指标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状态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mAP50:95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34.3449%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接近 v1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59.6817%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待提升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88.1562%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优于 v1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402336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14800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Microsoft YaHei"/>
                <a:ea typeface="Microsoft YaHei"/>
              </a:rPr>
              <a:t>模型冻结原则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测试集只评估一次；best.pt 由验证集选择；EMA 权重用于最终推理。分类与检测互不复用测试结果。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与 v1 基线对比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972800" cy="4189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  <a:ea typeface="Microsoft YaHei"/>
              </a:rPr>
              <a:t>说明：Plan-A 分类 Top-5 更优；检测 Precision 明显提升，但 AP50/Recall 仍需继续优化。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推理与 Web 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上传图片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94560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04872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04872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EXIF/RGB 预处理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06824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分类专家
Top-5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98464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08776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检测专家
害虫框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0416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0728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结果融合
class_id 映射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02368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12680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2680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标注图 + 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4903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40479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284C7"/>
                </a:solidFill>
                <a:latin typeface="Microsoft YaHei"/>
                <a:ea typeface="Microsoft YaHei"/>
              </a:rPr>
              <a:t>Web 应用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FastAPI + 原生 HTML/JS；POST /api/analyze；返回分类 Top-5、检测框、标注图 base64。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74903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840479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训练进度页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独立进度服务；3 秒自动刷新；loss 与验证指标曲线。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工程实现与复现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project/src/dlcpd25_v2/
├── classification/  分类模型、损失、指标、训练、评估
├── detection/       检测数据、模型、COCO 评估、训练
├── serving/         双模型推理编排
└── web/             训练进度页 + 双模型 Web 应用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分类训练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python -m dlcpd25_v2.classification.train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606040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9748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检测训练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python -m dlcpd25_v2.detection.train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49039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840479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双模型 Web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python -m dlcpd25_v2.web --config configs/plan-a/app.yaml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限制与未来工作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8016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检测小目标仍是短板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AP small 仅 9.13%；后续可引入更高分辨率、P2 特征增强或 Transformer 检测器。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39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39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稀有类别样本不足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IP102 部分类只有几十个框；可用 IP102 原始 75k 分类图做弱监督/伪标签。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74720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7472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分类 Macro-F1 接近瓶颈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可尝试层级 softmax、更强的数据增强、更大 backbone 或蒸馏。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72000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57200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推理部署优化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当前 PyTorch 权重较大；可导出 ONNX/TensorRT，检测可换 YOLO 系列。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4" name="Oval 3"/>
          <p:cNvSpPr/>
          <p:nvPr/>
        </p:nvSpPr>
        <p:spPr>
          <a:xfrm>
            <a:off x="2011680" y="192024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1847088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Plan-A 双专家架构成功解耦分类与检测，两个任务可独立优化、独立部署。</a:t>
            </a:r>
          </a:p>
        </p:txBody>
      </p:sp>
      <p:sp>
        <p:nvSpPr>
          <p:cNvPr id="6" name="Oval 5"/>
          <p:cNvSpPr/>
          <p:nvPr/>
        </p:nvSpPr>
        <p:spPr>
          <a:xfrm>
            <a:off x="2011680" y="260604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532888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分类专家 ConvNeXt-Tiny@384 取得 Top-1 89.22%、Macro-F1 75.35%。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329184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3218688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检测专家 ConvNeXt-Tiny-FPN@640 取得 mAP 34.34%，Precision 88.16%。</a:t>
            </a:r>
          </a:p>
        </p:txBody>
      </p:sp>
      <p:sp>
        <p:nvSpPr>
          <p:cNvPr id="10" name="Oval 9"/>
          <p:cNvSpPr/>
          <p:nvPr/>
        </p:nvSpPr>
        <p:spPr>
          <a:xfrm>
            <a:off x="2011680" y="3977639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904487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完整数据工程、训练、评估、进度看板与 Web 应用均已实现并提交。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感谢观看 · 欢迎提问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