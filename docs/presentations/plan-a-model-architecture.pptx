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基于 DLCPD-25 的农产品病虫害与缺陷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分类目标检测系统 · 模型架构详解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BBDCCC"/>
                </a:solidFill>
                <a:latin typeface="Microsoft YaHei"/>
                <a:ea typeface="Microsoft YaHei"/>
              </a:rPr>
              <a:t>Plan-A 双专家模型：ConvNeXt-Tiny 分类 + ConvNeXt-Tiny-FPN Faster R-CNN 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BA396"/>
                </a:solidFill>
                <a:latin typeface="Microsoft YaHei"/>
                <a:ea typeface="Microsoft YaHei"/>
              </a:rPr>
              <a:t>2026-08-18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887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项目背景与任务定义</a:t>
            </a:r>
          </a:p>
        </p:txBody>
      </p:sp>
      <p:sp>
        <p:nvSpPr>
          <p:cNvPr id="7" name="Oval 6"/>
          <p:cNvSpPr/>
          <p:nvPr/>
        </p:nvSpPr>
        <p:spPr>
          <a:xfrm>
            <a:off x="6492240" y="11430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430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1887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数据集概览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659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为什么采用双专家架构</a:t>
            </a:r>
          </a:p>
        </p:txBody>
      </p:sp>
      <p:sp>
        <p:nvSpPr>
          <p:cNvPr id="13" name="Oval 12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9659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Plan-A 总体架构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7432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分类专家：ConvNeXt-Tiny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974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974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7432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检测专家：ConvNeXt-Tiny-FPN + Faster R-CNN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5204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训练策略与关键组件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747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747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5204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训练过程与最终测试指标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2976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最终测试指标总览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2519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2519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2976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推理系统与 Web 应用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0749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工程实现、限制与未来工作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项目背景与任务定义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120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59669"/>
                </a:solidFill>
                <a:latin typeface="Microsoft YaHei"/>
                <a:ea typeface="Microsoft YaHei"/>
              </a:rPr>
              <a:t>任务一：DLCPD-25 细粒度分类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  <a:ea typeface="Microsoft YaHei"/>
              </a:rPr>
              <a:t>输入一张农作物图片，识别 203 类病虫害、健康状态与生理缺陷；输出 Top-5 类别。
类别空间：22 个宿主作物 × 4 类标签属性。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371600"/>
            <a:ext cx="5120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284C7"/>
                </a:solidFill>
                <a:latin typeface="Microsoft YaHei"/>
                <a:ea typeface="Microsoft YaHei"/>
              </a:rPr>
              <a:t>任务二：IP102 害虫目标检测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  <a:ea typeface="Microsoft YaHei"/>
              </a:rPr>
              <a:t>对图片中的农业害虫输出边界框和类别；检测空间为 96 类，检测结果映射回 DLCPD-25 公共 class_id。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10881360" cy="14630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Microsoft YaHei"/>
                <a:ea typeface="Microsoft YaHei"/>
              </a:rPr>
              <a:t>系统输出合同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  <a:ea typeface="Microsoft YaHei"/>
              </a:rPr>
              <a:t>Web 系统同时返回：整图 203 类 Top-5 分类 + 96 类害虫检测框 + 标注图。病害、健康和生理缺陷只有图像级标签，不做伪检测框。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数据集概览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120640" cy="201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59669"/>
                </a:solidFill>
                <a:latin typeface="Microsoft YaHei"/>
                <a:ea typeface="Microsoft YaHei"/>
              </a:rPr>
              <a:t>DLCPD-25 分类数据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  <a:ea typeface="Microsoft YaHei"/>
              </a:rPr>
              <a:t>221,396 张图片；203 个细粒度类别；22 个宿主作物。
类别不均衡：单类 5 ~ 10,619 张。
划分：177,021 / 22,178 / 22,179。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371600"/>
            <a:ext cx="5120640" cy="201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284C7"/>
                </a:solidFill>
                <a:latin typeface="Microsoft YaHei"/>
                <a:ea typeface="Microsoft YaHei"/>
              </a:rPr>
              <a:t>IP102 检测数据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  <a:ea typeface="Microsoft YaHei"/>
              </a:rPr>
              <a:t>18,976 个标注样本；22,283 个有效框；97 个源标签映射为 96 个检测类。
约 93% 图片为单目标；目标中位相对面积 0.35。
划分：12,142 / 3,036 / 3,798（官方 test 原样保留）。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设计启示：分类任务的核心矛盾是长尾分布；检测任务的核心矛盾是细粒度害虫外观相似 + 小目标。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43484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526279"/>
            <a:ext cx="2331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59669"/>
                </a:solidFill>
                <a:latin typeface="Microsoft YaHei"/>
                <a:ea typeface="Microsoft YaHei"/>
              </a:rPr>
              <a:t>pest 农业有害生物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  <a:ea typeface="Microsoft YaHei"/>
              </a:rPr>
              <a:t>126 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43484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4526279"/>
            <a:ext cx="2331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11D48"/>
                </a:solidFill>
                <a:latin typeface="Microsoft YaHei"/>
                <a:ea typeface="Microsoft YaHei"/>
              </a:rPr>
              <a:t>disease 植物病害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  <a:ea typeface="Microsoft YaHei"/>
              </a:rPr>
              <a:t>57 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43484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526279"/>
            <a:ext cx="2331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06"/>
                </a:solidFill>
                <a:latin typeface="Microsoft YaHei"/>
                <a:ea typeface="Microsoft YaHei"/>
              </a:rPr>
              <a:t>healthy 健康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  <a:ea typeface="Microsoft YaHei"/>
              </a:rPr>
              <a:t>17 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443484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3999" y="4526279"/>
            <a:ext cx="2331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</a:rPr>
              <a:t>disorder 生理缺陷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  <a:ea typeface="Microsoft YaHei"/>
              </a:rPr>
              <a:t>3 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为什么采用双专家架构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344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任务特性不同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分类是 203 类细粒度整图识别，检测是 96 类目标定位与识别；标签空间和优化目标不同。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分辨率需求不同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分类使用 384×384 以保留细粒度纹理；检测使用最长边 640 以保留定位精度。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54680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长尾处理不同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分类采用类别平衡采样；检测采用 Repeat Factor Sampling 按图像稀有度重复采样。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14800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训练节奏不同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两个任务可独立选择学习率、早停耐心和模型选择指标，避免互相干扰。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074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部署更灵活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两个专家可分别导出、升级和替换；Web 层负责统一编排与结果融合。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Plan-A 总体架构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66360" y="1234440"/>
            <a:ext cx="182880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66360" y="13898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输入图片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2148840"/>
            <a:ext cx="1828800" cy="64008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66360" y="23042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</a:rPr>
              <a:t>EXIF 校正
RGB 转换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46120"/>
            <a:ext cx="4206240" cy="15544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分类专家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03320"/>
            <a:ext cx="3931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  <a:ea typeface="Microsoft YaHei"/>
              </a:rPr>
              <a:t>ConvNeXt-Tiny @ 384
主头 203 类 + 宿主/属性辅助头
输出 Top-5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3246120"/>
            <a:ext cx="4206240" cy="155448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33832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检测专家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703320"/>
            <a:ext cx="3931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  <a:ea typeface="Microsoft YaHei"/>
              </a:rPr>
              <a:t>ConvNeXt-Tiny-FPN @ 640
Faster R-CNN：RPN + RoI Heads
输出 96 类害虫框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5166360"/>
            <a:ext cx="5029200" cy="914400"/>
          </a:xfrm>
          <a:prstGeom prst="roundRect">
            <a:avLst>
              <a:gd name="adj" fmla="val 15000"/>
            </a:avLst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5321808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结果融合：检测框映射 class_id 0..202
+ 整图 Top-5 + 标注图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1920240"/>
            <a:ext cx="0" cy="22860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017520" y="2788920"/>
            <a:ext cx="3063240" cy="45720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2788920"/>
            <a:ext cx="3063240" cy="45720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17520" y="4800600"/>
            <a:ext cx="1828800" cy="36576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589520" y="4800600"/>
            <a:ext cx="1554480" cy="36576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分类专家：ConvNeXt-Tiny @ 384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486400" cy="42062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输入：384×384×3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1874519"/>
            <a:ext cx="4480560" cy="5943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1168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  <a:ea typeface="Microsoft YaHei"/>
              </a:rPr>
              <a:t>ConvNeXt-Tiny Stem / 4 个 Stage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697480"/>
            <a:ext cx="4480560" cy="5943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83464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  <a:ea typeface="Microsoft YaHei"/>
              </a:rPr>
              <a:t>Global Average Pooling + LayerNorm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520440"/>
            <a:ext cx="4480560" cy="5943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65760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  <a:ea typeface="Microsoft YaHei"/>
              </a:rPr>
              <a:t>共享特征向量 768-d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43400"/>
            <a:ext cx="1417320" cy="777240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498848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主分类头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输出 203 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79191" y="4343400"/>
            <a:ext cx="141732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1" y="4498848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宿主辅助头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输出 22 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5383" y="4343400"/>
            <a:ext cx="141732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5383" y="4498848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属性辅助头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输出 4 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ConvNeXt Block 核心组件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0" y="1783080"/>
          <a:ext cx="5120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418011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组件</a:t>
                      </a:r>
                    </a:p>
                  </a:txBody>
                  <a:tcPr>
                    <a:solidFill>
                      <a:srgbClr val="0F2E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作用</a:t>
                      </a:r>
                    </a:p>
                  </a:txBody>
                  <a:tcPr>
                    <a:solidFill>
                      <a:srgbClr val="0F2E1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/>
                        <a:t>7×7 Depthwise Conv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空间特征，参数少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/>
                        <a:t>LayerNorm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替代 BatchNorm，训练更稳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/>
                        <a:t>1×1 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通道混合，倒置瓶颈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/>
                        <a:t>GELU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现代激活函数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/>
                        <a:t>Layer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稳定深层训练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100"/>
                        <a:t>Stochastic Depth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随机深度正则化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分类专家训练策略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344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长尾分类损失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Class-Balanced Focal Loss（γ=2）+ Label Smoothing；主损失与类别权重共同抑制头部类。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类别平衡采样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√逆频率采样器；在不扩数据的情况下提升尾类出现频率。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54680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层级辅助监督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22 宿主头 + 4 属性头，仅训练时使用，帮助主干学习层级结构。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14800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优化与正则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AdamW；backbone lr=5e-5 / head lr=3e-4；warmup 3 epochs + cosine；EMA 0.999。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46304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074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训练与选择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40 轮计划，第 5 轮 val Macro-F1 最高 74.38，第 11 轮早停；测试集只评估一次。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检测专家：ConvNeXt-Tiny-FPN + Faster R-CNN @ 640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51560" cy="105156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51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284C7"/>
                </a:solidFill>
                <a:latin typeface="Microsoft YaHei"/>
                <a:ea typeface="Microsoft YaHei"/>
              </a:rPr>
              <a:t>Stage 1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96ch, /4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1508760"/>
            <a:ext cx="1051560" cy="105156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1691640"/>
            <a:ext cx="1051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284C7"/>
                </a:solidFill>
                <a:latin typeface="Microsoft YaHei"/>
                <a:ea typeface="Microsoft YaHei"/>
              </a:rPr>
              <a:t>Stage 2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192ch, /8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508760"/>
            <a:ext cx="1051560" cy="105156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691640"/>
            <a:ext cx="1051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284C7"/>
                </a:solidFill>
                <a:latin typeface="Microsoft YaHei"/>
                <a:ea typeface="Microsoft YaHei"/>
              </a:rPr>
              <a:t>Stage 3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384ch, 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1051560" cy="105156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691640"/>
            <a:ext cx="1051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284C7"/>
                </a:solidFill>
                <a:latin typeface="Microsoft YaHei"/>
                <a:ea typeface="Microsoft YaHei"/>
              </a:rPr>
              <a:t>Stage 4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768ch, /32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88920"/>
            <a:ext cx="4937760" cy="685800"/>
          </a:xfrm>
          <a:prstGeom prst="roundRect">
            <a:avLst>
              <a:gd name="adj" fmla="val 20000"/>
            </a:avLst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FPN：P2~P6，统一 256 通道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  <a:ea typeface="Microsoft YaHei"/>
              </a:rPr>
              <a:t>FPN：P2~P6，统一 256 通道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  <a:ea typeface="Microsoft YaHei"/>
              </a:rPr>
              <a:t>RPN
候选框 + 前景/背景打分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70332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38862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  <a:ea typeface="Microsoft YaHei"/>
              </a:rPr>
              <a:t>RoIAlign + RoI Heads
96 类分类 + 框回归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4630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关键设计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874519"/>
            <a:ext cx="128016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74519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输入 640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保持宽高比缩放，禁止 224 直缩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532887"/>
            <a:ext cx="128016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532887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骨干初始化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加载分类专家 best.pt 的 EMA 骨干权重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191256"/>
            <a:ext cx="128016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191256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单目标场景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每图最多输出 30 框；NMS IoU=0.5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849624"/>
            <a:ext cx="128016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849624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损失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RPN 分类/回归 + RoI 分类/回归联合训练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检测专家训练策略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46304" cy="73152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344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Repeat Factor Sampling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按 √(Nmax/Nc) 重复采样稀有害虫图片，缓解 96 类长尾。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146304" cy="73152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两阶段初始化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ConvNeXt 骨干来自分类模型；FPN/RPN/RoI Heads 随机初始化。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54680"/>
            <a:ext cx="146304" cy="73152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优化设置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AdamW；backbone lr=1e-5 / head lr=1e-4；warmup 1 epoch + cosine；EMA 0.999。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14800"/>
            <a:ext cx="146304" cy="73152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模型选择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验证集 mAP@0.5:0.95；第 8 轮最佳 35.35；第 14 轮早停。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46304" cy="73152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074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COCO 评估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官方 test 保持隔离；maxDets=[1,10,100]；同时记录 AP50/AP75/AR。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训练过程曲线</a:t>
            </a:r>
          </a:p>
        </p:txBody>
      </p:sp>
      <p:pic>
        <p:nvPicPr>
          <p:cNvPr id="4" name="Picture 3" descr="classificatio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11155680" cy="4259441"/>
          </a:xfrm>
          <a:prstGeom prst="rect">
            <a:avLst/>
          </a:prstGeom>
        </p:spPr>
      </p:pic>
      <p:pic>
        <p:nvPicPr>
          <p:cNvPr id="5" name="Picture 4" descr="detection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77639"/>
            <a:ext cx="11155680" cy="42594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最终测试集指标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63040"/>
          <a:ext cx="5120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分类指标</a:t>
                      </a:r>
                    </a:p>
                  </a:txBody>
                  <a:tcPr>
                    <a:solidFill>
                      <a:srgbClr val="0F2E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>
                    <a:solidFill>
                      <a:srgbClr val="0F2E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>
                    <a:solidFill>
                      <a:srgbClr val="0F2E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Top-1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89.2240%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良好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Top-5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97.7366%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优秀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Macro-F1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75.3537%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良好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463040"/>
          <a:ext cx="5120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检测指标</a:t>
                      </a:r>
                    </a:p>
                  </a:txBody>
                  <a:tcPr>
                    <a:solidFill>
                      <a:srgbClr val="0F2E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>
                    <a:solidFill>
                      <a:srgbClr val="0F2E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>
                    <a:solidFill>
                      <a:srgbClr val="0F2E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mAP50:95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34.3449%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良好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AP50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59.6817%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待提升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88.1562%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</a:rPr>
                        <a:t>优秀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402336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114800"/>
            <a:ext cx="10241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Microsoft YaHei"/>
                <a:ea typeface="Microsoft YaHei"/>
              </a:rPr>
              <a:t>模型冻结原则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  <a:ea typeface="Microsoft YaHei"/>
              </a:rPr>
              <a:t>测试集只评估一次；best.pt 由验证集选择；EMA 权重用于最终推理。分类与检测互不复用测试结果。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最终测试指标总览</a:t>
            </a:r>
          </a:p>
        </p:txBody>
      </p:sp>
      <p:pic>
        <p:nvPicPr>
          <p:cNvPr id="4" name="Picture 3" descr="plan_a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972800" cy="4189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  <a:ea typeface="Microsoft YaHei"/>
              </a:rPr>
              <a:t>说明：分类 Top-5 表现优秀；检测 Precision 较高，AP50 和小目标仍有提升空间。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推理与 Web 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1645920" cy="123444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12848"/>
            <a:ext cx="1645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上传图片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94560" y="2395728"/>
            <a:ext cx="201168" cy="32004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04872" y="2011680"/>
            <a:ext cx="1645920" cy="123444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04872" y="2212848"/>
            <a:ext cx="1645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EXIF/RGB 预处理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96512" y="2395728"/>
            <a:ext cx="201168" cy="32004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06824" y="2011680"/>
            <a:ext cx="1645920" cy="123444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2212848"/>
            <a:ext cx="1645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分类专家
Top-5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98464" y="2395728"/>
            <a:ext cx="201168" cy="32004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8776" y="2011680"/>
            <a:ext cx="1645920" cy="123444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2212848"/>
            <a:ext cx="1645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检测专家
害虫框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00416" y="2395728"/>
            <a:ext cx="201168" cy="32004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0728" y="2011680"/>
            <a:ext cx="1645920" cy="123444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8" y="2212848"/>
            <a:ext cx="1645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结果融合
class_id 映射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802368" y="2395728"/>
            <a:ext cx="201168" cy="32004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12680" y="2011680"/>
            <a:ext cx="1645920" cy="123444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2212848"/>
            <a:ext cx="1645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标注图 + 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49039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40479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284C7"/>
                </a:solidFill>
                <a:latin typeface="Microsoft YaHei"/>
                <a:ea typeface="Microsoft YaHei"/>
              </a:rPr>
              <a:t>Web 应用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  <a:ea typeface="Microsoft YaHei"/>
              </a:rPr>
              <a:t>FastAPI + 原生 HTML/JS；POST /api/analyze；返回分类 Top-5、检测框、标注图 base64。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749039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840479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59669"/>
                </a:solidFill>
                <a:latin typeface="Microsoft YaHei"/>
                <a:ea typeface="Microsoft YaHei"/>
              </a:rPr>
              <a:t>训练进度页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  <a:ea typeface="Microsoft YaHei"/>
              </a:rPr>
              <a:t>独立进度服务；3 秒自动刷新；loss 与验证指标曲线。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工程实现与复现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329184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9377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</a:rPr>
              <a:t>project/src/dlcpd25_v2/
├── classification/  分类模型、损失、指标、训练、评估
├── detection/       检测数据、模型、COCO 评估、训练
├── serving/         双模型推理编排
└── web/             训练进度页 + 双模型 Web 应用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分类训练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python -m dlcpd25_v2.classification.train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60604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69748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检测训练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python -m dlcpd25_v2.detection.train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749039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840479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双模型 Web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python -m dlcpd25_v2.web --config configs/plan-a/app.yaml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限制与未来工作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46304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8016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检测小目标仍是短板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AP small 仅 9.13%；后续可引入更高分辨率、P2 特征增强或 Transformer 检测器。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39"/>
            <a:ext cx="146304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77439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稀有类别样本不足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IP102 部分类只有几十个框；可用 IP102 原始 75k 分类图做弱监督/伪标签。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74720"/>
            <a:ext cx="146304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4747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分类 Macro-F1 接近瓶颈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可尝试层级 softmax、更强的数据增强、更大 backbone 或蒸馏。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46304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7200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</a:rPr>
              <a:t>推理部署优化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当前 PyTorch 权重较大；可导出 ONNX/TensorRT，检测可换 YOLO 系列。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4" name="Oval 3"/>
          <p:cNvSpPr/>
          <p:nvPr/>
        </p:nvSpPr>
        <p:spPr>
          <a:xfrm>
            <a:off x="2011680" y="192024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184708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Plan-A 双专家架构成功解耦分类与检测，两个任务可独立优化、独立部署。</a:t>
            </a:r>
          </a:p>
        </p:txBody>
      </p:sp>
      <p:sp>
        <p:nvSpPr>
          <p:cNvPr id="6" name="Oval 5"/>
          <p:cNvSpPr/>
          <p:nvPr/>
        </p:nvSpPr>
        <p:spPr>
          <a:xfrm>
            <a:off x="2011680" y="260604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253288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分类专家 ConvNeXt-Tiny@384 取得 Top-1 89.22%、Macro-F1 75.35%。</a:t>
            </a:r>
          </a:p>
        </p:txBody>
      </p:sp>
      <p:sp>
        <p:nvSpPr>
          <p:cNvPr id="8" name="Oval 7"/>
          <p:cNvSpPr/>
          <p:nvPr/>
        </p:nvSpPr>
        <p:spPr>
          <a:xfrm>
            <a:off x="2011680" y="329184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321868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检测专家 ConvNeXt-Tiny-FPN@640 取得 mAP 34.34%，Precision 88.16%。</a:t>
            </a:r>
          </a:p>
        </p:txBody>
      </p:sp>
      <p:sp>
        <p:nvSpPr>
          <p:cNvPr id="10" name="Oval 9"/>
          <p:cNvSpPr/>
          <p:nvPr/>
        </p:nvSpPr>
        <p:spPr>
          <a:xfrm>
            <a:off x="2011680" y="3977639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3904487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完整数据工程、训练、评估、进度看板与 Web 应用均已实现并提交。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感谢观看 · 欢迎提问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