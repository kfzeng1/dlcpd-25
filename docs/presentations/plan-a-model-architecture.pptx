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4920"/>
            <a:ext cx="12191695" cy="457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8680" y="1828800"/>
            <a:ext cx="91440" cy="1417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1847088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Microsoft YaHei"/>
                <a:ea typeface="Microsoft YaHei"/>
              </a:rPr>
              <a:t>基于 DLCPD-25 的农产品病虫害与缺陷分类目标检测系统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487168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Microsoft YaHei"/>
                <a:ea typeface="Microsoft YaHei"/>
              </a:rPr>
              <a:t>模型架构详解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337560"/>
            <a:ext cx="9875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BBDCCC"/>
                </a:solidFill>
                <a:latin typeface="Microsoft YaHei"/>
                <a:ea typeface="Microsoft YaHei"/>
              </a:rPr>
              <a:t>Plan-A 双专家架构：ConvNeXt-Tiny 分类专家 + ConvNeXt-Tiny-FPN Faster R-CNN 检测专家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534924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8BA396"/>
                </a:solidFill>
                <a:latin typeface="Microsoft YaHei"/>
                <a:ea typeface="Microsoft YaHei"/>
              </a:rPr>
              <a:t>2026-08-18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  <a:ea typeface="Microsoft YaHei"/>
              </a:rPr>
              <a:t>目录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594360" cy="4114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3383280" cy="11430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777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59669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673352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>
                <a:solidFill>
                  <a:srgbClr val="1E293B"/>
                </a:solidFill>
                <a:latin typeface="Microsoft YaHei"/>
                <a:ea typeface="Microsoft YaHei"/>
              </a:rPr>
              <a:t>任务定义与数据概览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417320"/>
            <a:ext cx="3383280" cy="11430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1545336"/>
            <a:ext cx="777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59669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1673352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>
                <a:solidFill>
                  <a:srgbClr val="1E293B"/>
                </a:solidFill>
                <a:latin typeface="Microsoft YaHei"/>
                <a:ea typeface="Microsoft YaHei"/>
              </a:rPr>
              <a:t>Plan-A 总体架构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417320"/>
            <a:ext cx="3383280" cy="11430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1545336"/>
            <a:ext cx="777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59669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0" y="1673352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>
                <a:solidFill>
                  <a:srgbClr val="1E293B"/>
                </a:solidFill>
                <a:latin typeface="Microsoft YaHei"/>
                <a:ea typeface="Microsoft YaHei"/>
              </a:rPr>
              <a:t>分类专家：ConvNeXt-Tiny 结构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926080"/>
            <a:ext cx="3383280" cy="11430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054096"/>
            <a:ext cx="777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59669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182112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>
                <a:solidFill>
                  <a:srgbClr val="1E293B"/>
                </a:solidFill>
                <a:latin typeface="Microsoft YaHei"/>
                <a:ea typeface="Microsoft YaHei"/>
              </a:rPr>
              <a:t>ConvNeXt Block 与主干尺度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2926080"/>
            <a:ext cx="3383280" cy="11430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9160" y="3054096"/>
            <a:ext cx="777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59669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0680" y="3182112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>
                <a:solidFill>
                  <a:srgbClr val="1E293B"/>
                </a:solidFill>
                <a:latin typeface="Microsoft YaHei"/>
                <a:ea typeface="Microsoft YaHei"/>
              </a:rPr>
              <a:t>分类训练策略与损失函数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75320" y="2926080"/>
            <a:ext cx="3383280" cy="11430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0" y="3054096"/>
            <a:ext cx="777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59669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3182112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>
                <a:solidFill>
                  <a:srgbClr val="1E293B"/>
                </a:solidFill>
                <a:latin typeface="Microsoft YaHei"/>
                <a:ea typeface="Microsoft YaHei"/>
              </a:rPr>
              <a:t>分类模型训练过程与结果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434840"/>
            <a:ext cx="3383280" cy="11430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562855"/>
            <a:ext cx="777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59669"/>
                </a:solidFill>
                <a:latin typeface="Microsoft YaHei"/>
                <a:ea typeface="Microsoft YaHei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4690872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>
                <a:solidFill>
                  <a:srgbClr val="1E293B"/>
                </a:solidFill>
                <a:latin typeface="Microsoft YaHei"/>
                <a:ea typeface="Microsoft YaHei"/>
              </a:rPr>
              <a:t>检测专家：FPN 与 Faster R-CNN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80560" y="4434840"/>
            <a:ext cx="3383280" cy="11430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09160" y="4562855"/>
            <a:ext cx="777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59669"/>
                </a:solidFill>
                <a:latin typeface="Microsoft YaHei"/>
                <a:ea typeface="Microsoft YaHei"/>
              </a:rP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40680" y="4690872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>
                <a:solidFill>
                  <a:srgbClr val="1E293B"/>
                </a:solidFill>
                <a:latin typeface="Microsoft YaHei"/>
                <a:ea typeface="Microsoft YaHei"/>
              </a:rPr>
              <a:t>检测训练策略与损失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75320" y="4434840"/>
            <a:ext cx="3383280" cy="11430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03920" y="4562855"/>
            <a:ext cx="777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59669"/>
                </a:solidFill>
                <a:latin typeface="Microsoft YaHei"/>
                <a:ea typeface="Microsoft YaHei"/>
              </a:rPr>
              <a:t>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4690872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>
                <a:solidFill>
                  <a:srgbClr val="1E293B"/>
                </a:solidFill>
                <a:latin typeface="Microsoft YaHei"/>
                <a:ea typeface="Microsoft YaHei"/>
              </a:rPr>
              <a:t>检测模型训练过程与结果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5943599"/>
            <a:ext cx="3383280" cy="11430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6071615"/>
            <a:ext cx="777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59669"/>
                </a:solidFill>
                <a:latin typeface="Microsoft YaHei"/>
                <a:ea typeface="Microsoft YaHei"/>
              </a:rPr>
              <a:t>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45920" y="6199631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>
                <a:solidFill>
                  <a:srgbClr val="1E293B"/>
                </a:solidFill>
                <a:latin typeface="Microsoft YaHei"/>
                <a:ea typeface="Microsoft YaHei"/>
              </a:rPr>
              <a:t>推理系统与工程实现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80560" y="5943599"/>
            <a:ext cx="3383280" cy="11430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09160" y="6071615"/>
            <a:ext cx="777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59669"/>
                </a:solidFill>
                <a:latin typeface="Microsoft YaHei"/>
                <a:ea typeface="Microsoft YaHei"/>
              </a:rPr>
              <a:t>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0680" y="6199631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>
                <a:solidFill>
                  <a:srgbClr val="1E293B"/>
                </a:solidFill>
                <a:latin typeface="Microsoft YaHei"/>
                <a:ea typeface="Microsoft YaHei"/>
              </a:rPr>
              <a:t>限制与未来工作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275320" y="5943599"/>
            <a:ext cx="3383280" cy="11430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03920" y="6071615"/>
            <a:ext cx="777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59669"/>
                </a:solidFill>
                <a:latin typeface="Microsoft YaHei"/>
                <a:ea typeface="Microsoft YaHei"/>
              </a:rPr>
              <a:t>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5440" y="6199631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>
                <a:solidFill>
                  <a:srgbClr val="1E293B"/>
                </a:solidFill>
                <a:latin typeface="Microsoft YaHei"/>
                <a:ea typeface="Microsoft YaHei"/>
              </a:rPr>
              <a:t>总结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DLCPD-25 · Plan-A 模型架构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292840" y="6473952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  <a:ea typeface="Microsoft YaHei"/>
              </a:rPr>
              <a:t>任务定义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Microsoft YaHei"/>
                <a:ea typeface="Microsoft YaHei"/>
              </a:rPr>
              <a:t>一个系统，两个互补任务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594360" cy="4114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5394960" cy="2286000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27048"/>
            <a:ext cx="82296" cy="2066543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527048"/>
            <a:ext cx="4937760" cy="20665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500" b="1">
                <a:solidFill>
                  <a:srgbClr val="1E293B"/>
                </a:solidFill>
                <a:latin typeface="Microsoft YaHei"/>
                <a:ea typeface="Microsoft YaHei"/>
              </a:rPr>
              <a:t>DLCPD-25 细粒度分类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50" b="0">
                <a:solidFill>
                  <a:srgbClr val="64748B"/>
                </a:solidFill>
                <a:latin typeface="Microsoft YaHei"/>
                <a:ea typeface="Microsoft YaHei"/>
              </a:rPr>
              <a:t>输入整张农作物图片，判断 203 类病虫害、健康或生理缺陷；输出 Top-5。
标签组织：22 个宿主作物 × 4 类属性（pest / disease / healthy / disorder）。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417320"/>
            <a:ext cx="5394960" cy="2286000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527048"/>
            <a:ext cx="82296" cy="2066543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1527048"/>
            <a:ext cx="4937760" cy="20665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500" b="1">
                <a:solidFill>
                  <a:srgbClr val="1E293B"/>
                </a:solidFill>
                <a:latin typeface="Microsoft YaHei"/>
                <a:ea typeface="Microsoft YaHei"/>
              </a:rPr>
              <a:t>IP102 害虫目标检测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50" b="0">
                <a:solidFill>
                  <a:srgbClr val="64748B"/>
                </a:solidFill>
                <a:latin typeface="Microsoft YaHei"/>
                <a:ea typeface="Microsoft YaHei"/>
              </a:rPr>
              <a:t>输入整张图片，定位并识别 96 类农业害虫；输出边界框和置信度。
检测标签映射回 DLCPD-25 公共 class_id 0..202。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069080"/>
            <a:ext cx="10927080" cy="1417320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4178808"/>
            <a:ext cx="82296" cy="1197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178808"/>
            <a:ext cx="10469880" cy="11978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500" b="1">
                <a:solidFill>
                  <a:srgbClr val="1E293B"/>
                </a:solidFill>
                <a:latin typeface="Microsoft YaHei"/>
                <a:ea typeface="Microsoft YaHei"/>
              </a:rPr>
              <a:t>系统输出合同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50" b="0">
                <a:solidFill>
                  <a:srgbClr val="64748B"/>
                </a:solidFill>
                <a:latin typeface="Microsoft YaHei"/>
                <a:ea typeface="Microsoft YaHei"/>
              </a:rPr>
              <a:t>Web 上传图片后，同时返回：整图分类 Top-5、害虫检测框、标注图。病害/健康/缺陷只有图像级标签，因此系统不为其生成虚假检测框。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DLCPD-25 · Plan-A 模型架构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  <a:ea typeface="Microsoft YaHei"/>
              </a:rPr>
              <a:t>数据概览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Microsoft YaHei"/>
                <a:ea typeface="Microsoft YaHei"/>
              </a:rPr>
              <a:t>两个数据集的规模与特点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594360" cy="4114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17320"/>
          <a:ext cx="8586216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417320"/>
                <a:gridCol w="1645920"/>
                <a:gridCol w="1600200"/>
                <a:gridCol w="2185416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数据集</a:t>
                      </a:r>
                    </a:p>
                  </a:txBody>
                  <a:tcPr marT="25400" marB="25400" marL="76200" marR="76200" anchor="ctr">
                    <a:solidFill>
                      <a:srgbClr val="065F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任务</a:t>
                      </a:r>
                    </a:p>
                  </a:txBody>
                  <a:tcPr marT="25400" marB="25400" marL="76200" marR="76200" anchor="ctr">
                    <a:solidFill>
                      <a:srgbClr val="065F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样本</a:t>
                      </a:r>
                    </a:p>
                  </a:txBody>
                  <a:tcPr marT="25400" marB="25400" marL="76200" marR="76200" anchor="ctr">
                    <a:solidFill>
                      <a:srgbClr val="065F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类别/标注</a:t>
                      </a:r>
                    </a:p>
                  </a:txBody>
                  <a:tcPr marT="25400" marB="25400" marL="76200" marR="76200" anchor="ctr">
                    <a:solidFill>
                      <a:srgbClr val="065F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关键特点</a:t>
                      </a:r>
                    </a:p>
                  </a:txBody>
                  <a:tcPr marT="25400" marB="25400" marL="76200" marR="76200" anchor="ctr">
                    <a:solidFill>
                      <a:srgbClr val="065F46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DLCPD-25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整图分类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221,396 张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203 类，22 宿主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单类 5~10,619 张，长尾严重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IP102 Detection</a:t>
                      </a:r>
                    </a:p>
                  </a:txBody>
                  <a:tcPr marT="25400" marB="25400" marL="76200" marR="7620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目标检测</a:t>
                      </a:r>
                    </a:p>
                  </a:txBody>
                  <a:tcPr marT="25400" marB="25400" marL="76200" marR="7620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18,976 张</a:t>
                      </a:r>
                    </a:p>
                  </a:txBody>
                  <a:tcPr marT="25400" marB="25400" marL="76200" marR="7620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96 类，22,283 框</a:t>
                      </a:r>
                    </a:p>
                  </a:txBody>
                  <a:tcPr marT="25400" marB="25400" marL="76200" marR="7620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约 93% 单目标，目标中位面积 0.35</a:t>
                      </a:r>
                    </a:p>
                  </a:txBody>
                  <a:tcPr marT="25400" marB="25400" marL="76200" marR="76200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1148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065F46"/>
                </a:solidFill>
                <a:latin typeface="Microsoft YaHei"/>
                <a:ea typeface="Microsoft YaHei"/>
              </a:rPr>
              <a:t>设计结论：分类重点是长尾均衡；检测重点是细粒度外观识别与定位精度。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17720"/>
            <a:ext cx="260604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4754880"/>
            <a:ext cx="2194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059669"/>
                </a:solidFill>
                <a:latin typeface="Microsoft YaHei"/>
                <a:ea typeface="Microsoft YaHei"/>
              </a:rPr>
              <a:t>pest 农业有害生物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</a:rPr>
              <a:t>126 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4617720"/>
            <a:ext cx="260604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4754880"/>
            <a:ext cx="2194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E11D48"/>
                </a:solidFill>
                <a:latin typeface="Microsoft YaHei"/>
                <a:ea typeface="Microsoft YaHei"/>
              </a:rPr>
              <a:t>disease 植物病害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</a:rPr>
              <a:t>57 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617720"/>
            <a:ext cx="260604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754880"/>
            <a:ext cx="2194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D97706"/>
                </a:solidFill>
                <a:latin typeface="Microsoft YaHei"/>
                <a:ea typeface="Microsoft YaHei"/>
              </a:rPr>
              <a:t>healthy 健康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</a:rPr>
              <a:t>17 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39" y="4617720"/>
            <a:ext cx="260604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9719" y="4754880"/>
            <a:ext cx="2194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64748B"/>
                </a:solidFill>
                <a:latin typeface="Microsoft YaHei"/>
                <a:ea typeface="Microsoft YaHei"/>
              </a:rPr>
              <a:t>disorder 生理缺陷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</a:rPr>
              <a:t>3 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DLCPD-25 · Plan-A 模型架构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92840" y="6473952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  <a:ea typeface="Microsoft YaHei"/>
              </a:rPr>
              <a:t>Plan-A 总体架构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Microsoft YaHei"/>
                <a:ea typeface="Microsoft YaHei"/>
              </a:rPr>
              <a:t>两个专家独立训练，推理时统一编排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594360" cy="4114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11201400" cy="5733000"/>
          </a:xfrm>
          <a:prstGeom prst="rect">
            <a:avLst/>
          </a:prstGeom>
          <a:ln w="12700">
            <a:solidFill>
              <a:srgbClr val="E2E8F0"/>
            </a:solidFill>
          </a:ln>
          <a:effectLst/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DLCPD-25 · Plan-A 模型架构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  <a:ea typeface="Microsoft YaHei"/>
              </a:rPr>
              <a:t>为什么采用双专家架构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594360" cy="4114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1520" y="1325880"/>
            <a:ext cx="128016" cy="12801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1271016"/>
            <a:ext cx="104698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1E293B"/>
                </a:solidFill>
                <a:latin typeface="Microsoft YaHei"/>
                <a:ea typeface="Microsoft YaHei"/>
              </a:rPr>
              <a:t>任务目标不同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64748B"/>
                </a:solidFill>
                <a:latin typeface="Microsoft YaHei"/>
                <a:ea typeface="Microsoft YaHei"/>
              </a:rPr>
              <a:t>分类是 203 类整图识别；检测是 96 类定位 + 分类。两类标签空间和损失函数无法共享。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286000"/>
            <a:ext cx="128016" cy="128016"/>
          </a:xfrm>
          <a:prstGeom prst="ellipse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231136"/>
            <a:ext cx="104698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1E293B"/>
                </a:solidFill>
                <a:latin typeface="Microsoft YaHei"/>
                <a:ea typeface="Microsoft YaHei"/>
              </a:rPr>
              <a:t>分辨率需求不同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64748B"/>
                </a:solidFill>
                <a:latin typeface="Microsoft YaHei"/>
                <a:ea typeface="Microsoft YaHei"/>
              </a:rPr>
              <a:t>分类 384×384 保留纹理；检测最长边 640 保留目标定位细节。共享单一分辨率会互相妥协。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3246120"/>
            <a:ext cx="128016" cy="12801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191256"/>
            <a:ext cx="104698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1E293B"/>
                </a:solidFill>
                <a:latin typeface="Microsoft YaHei"/>
                <a:ea typeface="Microsoft YaHei"/>
              </a:rPr>
              <a:t>长尾处理不同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64748B"/>
                </a:solidFill>
                <a:latin typeface="Microsoft YaHei"/>
                <a:ea typeface="Microsoft YaHei"/>
              </a:rPr>
              <a:t>分类用类别平衡采样；检测用 Repeat Factor Sampling。每个任务可以选择自己的数据策略。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4206240"/>
            <a:ext cx="128016" cy="12801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151376"/>
            <a:ext cx="104698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1E293B"/>
                </a:solidFill>
                <a:latin typeface="Microsoft YaHei"/>
                <a:ea typeface="Microsoft YaHei"/>
              </a:rPr>
              <a:t>训练与选型独立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64748B"/>
                </a:solidFill>
                <a:latin typeface="Microsoft YaHei"/>
                <a:ea typeface="Microsoft YaHei"/>
              </a:rPr>
              <a:t>学习率、早停耐心、EMA、模型选择指标均可独立设置；一个任务调参不会影响另一个。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5166360"/>
            <a:ext cx="128016" cy="128016"/>
          </a:xfrm>
          <a:prstGeom prst="ellipse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111496"/>
            <a:ext cx="104698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1E293B"/>
                </a:solidFill>
                <a:latin typeface="Microsoft YaHei"/>
                <a:ea typeface="Microsoft YaHei"/>
              </a:rPr>
              <a:t>部署与维护灵活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64748B"/>
                </a:solidFill>
                <a:latin typeface="Microsoft YaHei"/>
                <a:ea typeface="Microsoft YaHei"/>
              </a:rPr>
              <a:t>两个模型可分别导出、替换和升级；Web 层只负责结果融合。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DLCPD-25 · Plan-A 模型架构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  <a:ea typeface="Microsoft YaHei"/>
              </a:rPr>
              <a:t>分类专家：ConvNeXt-Tiny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Microsoft YaHei"/>
                <a:ea typeface="Microsoft YaHei"/>
              </a:rPr>
              <a:t>输入 384×384，输出 203 类 + 层级辅助信息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594360" cy="4114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371600"/>
          <a:ext cx="5760720" cy="43760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148840"/>
                <a:gridCol w="25603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模块</a:t>
                      </a:r>
                    </a:p>
                  </a:txBody>
                  <a:tcPr marT="25400" marB="25400" marL="76200" marR="76200" anchor="ctr">
                    <a:solidFill>
                      <a:srgbClr val="065F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结构</a:t>
                      </a:r>
                    </a:p>
                  </a:txBody>
                  <a:tcPr marT="25400" marB="25400" marL="76200" marR="76200" anchor="ctr">
                    <a:solidFill>
                      <a:srgbClr val="065F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输出/说明</a:t>
                      </a:r>
                    </a:p>
                  </a:txBody>
                  <a:tcPr marT="25400" marB="25400" marL="76200" marR="76200" anchor="ctr">
                    <a:solidFill>
                      <a:srgbClr val="065F46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Stem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4×4 Conv, stride 4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96 通道，1/4 分辨率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Stage 1~4</a:t>
                      </a:r>
                    </a:p>
                  </a:txBody>
                  <a:tcPr marT="25400" marB="25400" marL="76200" marR="7620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ConvNeXt Block ×3/3/9/3</a:t>
                      </a:r>
                    </a:p>
                  </a:txBody>
                  <a:tcPr marT="25400" marB="25400" marL="76200" marR="7620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96→192→384→768 通道</a:t>
                      </a:r>
                    </a:p>
                  </a:txBody>
                  <a:tcPr marT="25400" marB="25400" marL="76200" marR="76200" anchor="ctr">
                    <a:solidFill>
                      <a:srgbClr val="F8FAF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Pooling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Global Average Pooling + LayerNorm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768 维特征向量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3760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主分类头</a:t>
                      </a:r>
                    </a:p>
                  </a:txBody>
                  <a:tcPr marT="25400" marB="25400" marL="76200" marR="7620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Linear(768, 203)</a:t>
                      </a:r>
                    </a:p>
                  </a:txBody>
                  <a:tcPr marT="25400" marB="25400" marL="76200" marR="7620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DLCPD-25 细粒度类别</a:t>
                      </a:r>
                    </a:p>
                  </a:txBody>
                  <a:tcPr marT="25400" marB="25400" marL="76200" marR="76200" anchor="ctr">
                    <a:solidFill>
                      <a:srgbClr val="F8FAFC"/>
                    </a:solidFill>
                  </a:tcPr>
                </a:tc>
              </a:tr>
              <a:tr h="43760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宿主辅助头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Linear(768, 22)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仅训练时使用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3761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属性辅助头</a:t>
                      </a:r>
                    </a:p>
                  </a:txBody>
                  <a:tcPr marT="25400" marB="25400" marL="76200" marR="7620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Linear(768, 4)</a:t>
                      </a:r>
                    </a:p>
                  </a:txBody>
                  <a:tcPr marT="25400" marB="25400" marL="76200" marR="7620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pest/disease/healthy/disorder</a:t>
                      </a:r>
                    </a:p>
                  </a:txBody>
                  <a:tcPr marT="25400" marB="25400" marL="76200" marR="76200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convnext_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417320"/>
            <a:ext cx="5029200" cy="2217600"/>
          </a:xfrm>
          <a:prstGeom prst="rect">
            <a:avLst/>
          </a:prstGeom>
          <a:ln w="12700">
            <a:solidFill>
              <a:srgbClr val="E2E8F0"/>
            </a:solidFill>
          </a:ln>
          <a:effectLst/>
        </p:spPr>
      </p:pic>
      <p:sp>
        <p:nvSpPr>
          <p:cNvPr id="8" name="TextBox 7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DLCPD-25 · Plan-A 模型架构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  <a:ea typeface="Microsoft YaHei"/>
              </a:rPr>
              <a:t>ConvNeXt Block：核心计算单元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Microsoft YaHei"/>
                <a:ea typeface="Microsoft YaHei"/>
              </a:rPr>
              <a:t>现代 CNN 为什么稳定且高效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594360" cy="4114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vnext_b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11201400" cy="4762800"/>
          </a:xfrm>
          <a:prstGeom prst="rect">
            <a:avLst/>
          </a:prstGeom>
          <a:ln w="12700">
            <a:solidFill>
              <a:srgbClr val="E2E8F0"/>
            </a:solidFill>
          </a:ln>
          <a:effectLst/>
        </p:spPr>
      </p:pic>
      <p:sp>
        <p:nvSpPr>
          <p:cNvPr id="7" name="TextBox 6"/>
          <p:cNvSpPr txBox="1"/>
          <p:nvPr/>
        </p:nvSpPr>
        <p:spPr>
          <a:xfrm>
            <a:off x="640080" y="56235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065F46"/>
                </a:solidFill>
                <a:latin typeface="Microsoft YaHei"/>
                <a:ea typeface="Microsoft YaHei"/>
              </a:rPr>
              <a:t>解读：先用 7×7 Depthwise Conv 提取空间特征，再用两个 1×1 Linear 完成通道升维与降维；LayerNorm 和 Layer Scale 提升训练稳定性。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DLCPD-25 · Plan-A 模型架构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  <a:ea typeface="Microsoft YaHei"/>
              </a:rPr>
              <a:t>分类训练策略与损失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Microsoft YaHei"/>
                <a:ea typeface="Microsoft YaHei"/>
              </a:rPr>
              <a:t>面向 203 类长尾分布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594360" cy="4114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325880"/>
            <a:ext cx="128016" cy="12801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271016"/>
            <a:ext cx="105613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1E293B"/>
                </a:solidFill>
                <a:latin typeface="Microsoft YaHei"/>
                <a:ea typeface="Microsoft YaHei"/>
              </a:rPr>
              <a:t>Focal Loss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64748B"/>
                </a:solidFill>
                <a:latin typeface="Microsoft YaHei"/>
                <a:ea typeface="Microsoft YaHei"/>
              </a:rPr>
              <a:t>FL = −α_t·(1−p_t)^γ·log p_t；γ=2，聚焦难样本。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313432"/>
            <a:ext cx="128016" cy="128016"/>
          </a:xfrm>
          <a:prstGeom prst="ellipse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258568"/>
            <a:ext cx="105613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1E293B"/>
                </a:solidFill>
                <a:latin typeface="Microsoft YaHei"/>
                <a:ea typeface="Microsoft YaHei"/>
              </a:rPr>
              <a:t>类别平衡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64748B"/>
                </a:solidFill>
                <a:latin typeface="Microsoft YaHei"/>
                <a:ea typeface="Microsoft YaHei"/>
              </a:rPr>
              <a:t>训练采样器与类别权重均按逆频率设计，提升尾部类贡献。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300984"/>
            <a:ext cx="128016" cy="12801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246120"/>
            <a:ext cx="105613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1E293B"/>
                </a:solidFill>
                <a:latin typeface="Microsoft YaHei"/>
                <a:ea typeface="Microsoft YaHei"/>
              </a:rPr>
              <a:t>辅助层级监督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64748B"/>
                </a:solidFill>
                <a:latin typeface="Microsoft YaHei"/>
                <a:ea typeface="Microsoft YaHei"/>
              </a:rPr>
              <a:t>宿主头 22 类 + 属性头 4 类，帮助主干学习层级结构。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4288536"/>
            <a:ext cx="128016" cy="12801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4233672"/>
            <a:ext cx="105613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1E293B"/>
                </a:solidFill>
                <a:latin typeface="Microsoft YaHei"/>
                <a:ea typeface="Microsoft YaHei"/>
              </a:rPr>
              <a:t>优化与正则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64748B"/>
                </a:solidFill>
                <a:latin typeface="Microsoft YaHei"/>
                <a:ea typeface="Microsoft YaHei"/>
              </a:rPr>
              <a:t>AdamW；warmup 3 epochs + cosine；EMA 0.999；早停 patience 6。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DLCPD-25 · Plan-A 模型架构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  <a:ea typeface="Microsoft YaHei"/>
              </a:rPr>
              <a:t>分类模型训练过程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Microsoft YaHei"/>
                <a:ea typeface="Microsoft YaHei"/>
              </a:rPr>
              <a:t>验证指标与早停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594360" cy="4114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lassification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11201400" cy="4276898"/>
          </a:xfrm>
          <a:prstGeom prst="rect">
            <a:avLst/>
          </a:prstGeom>
          <a:ln w="12700">
            <a:solidFill>
              <a:srgbClr val="E2E8F0"/>
            </a:solidFill>
          </a:ln>
          <a:effectLst/>
        </p:spPr>
      </p:pic>
      <p:sp>
        <p:nvSpPr>
          <p:cNvPr id="7" name="TextBox 6"/>
          <p:cNvSpPr txBox="1"/>
          <p:nvPr/>
        </p:nvSpPr>
        <p:spPr>
          <a:xfrm>
            <a:off x="640080" y="56235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065F46"/>
                </a:solidFill>
                <a:latin typeface="Microsoft YaHei"/>
                <a:ea typeface="Microsoft YaHei"/>
              </a:rPr>
              <a:t>第 5 轮 val Macro-F1 最高（74.38%），连续 6 轮未提升后早停；最终测试只评估一次。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DLCPD-25 · Plan-A 模型架构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  <a:ea typeface="Microsoft YaHei"/>
              </a:rPr>
              <a:t>分类模型最终测试结果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594360" cy="4114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417320"/>
          <a:ext cx="6583680" cy="3634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325880"/>
                <a:gridCol w="384048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指标</a:t>
                      </a:r>
                    </a:p>
                  </a:txBody>
                  <a:tcPr marT="25400" marB="25400" marL="76200" marR="76200" anchor="ctr">
                    <a:solidFill>
                      <a:srgbClr val="065F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结果</a:t>
                      </a:r>
                    </a:p>
                  </a:txBody>
                  <a:tcPr marT="25400" marB="25400" marL="76200" marR="76200" anchor="ctr">
                    <a:solidFill>
                      <a:srgbClr val="065F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含义</a:t>
                      </a:r>
                    </a:p>
                  </a:txBody>
                  <a:tcPr marT="25400" marB="25400" marL="76200" marR="76200" anchor="ctr">
                    <a:solidFill>
                      <a:srgbClr val="065F46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Top-1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89.2240%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第一名预测正确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Top-5</a:t>
                      </a:r>
                    </a:p>
                  </a:txBody>
                  <a:tcPr marT="25400" marB="25400" marL="76200" marR="7620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97.7366%</a:t>
                      </a:r>
                    </a:p>
                  </a:txBody>
                  <a:tcPr marT="25400" marB="25400" marL="76200" marR="7620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真实类别进入前五名</a:t>
                      </a:r>
                    </a:p>
                  </a:txBody>
                  <a:tcPr marT="25400" marB="25400" marL="76200" marR="76200" anchor="ctr">
                    <a:solidFill>
                      <a:srgbClr val="F8FAFC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Macro-F1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75.3537%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203 类 F1 平均，长尾均衡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Balanced Accuracy</a:t>
                      </a:r>
                    </a:p>
                  </a:txBody>
                  <a:tcPr marT="25400" marB="25400" marL="76200" marR="7620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77.5782%</a:t>
                      </a:r>
                    </a:p>
                  </a:txBody>
                  <a:tcPr marT="25400" marB="25400" marL="76200" marR="7620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类别召回率平均</a:t>
                      </a:r>
                    </a:p>
                  </a:txBody>
                  <a:tcPr marT="25400" marB="25400" marL="76200" marR="76200" anchor="ctr">
                    <a:solidFill>
                      <a:srgbClr val="F8FAFC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测试样本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22,179 张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仅评估一次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classification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463040"/>
            <a:ext cx="3931920" cy="2722098"/>
          </a:xfrm>
          <a:prstGeom prst="rect">
            <a:avLst/>
          </a:prstGeom>
          <a:ln w="12700">
            <a:solidFill>
              <a:srgbClr val="E2E8F0"/>
            </a:solidFill>
          </a:ln>
          <a:effectLst/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DLCPD-25 · Plan-A 模型架构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  <a:ea typeface="Microsoft YaHei"/>
              </a:rPr>
              <a:t>检测专家：ConvNeXt-Tiny-FPN + Faster R-CNN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Microsoft YaHei"/>
                <a:ea typeface="Microsoft YaHei"/>
              </a:rPr>
              <a:t>输入最长边 640，输出 96 类害虫框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594360" cy="4114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ster_rc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80160"/>
            <a:ext cx="11201400" cy="5997600"/>
          </a:xfrm>
          <a:prstGeom prst="rect">
            <a:avLst/>
          </a:prstGeom>
          <a:ln w="12700">
            <a:solidFill>
              <a:srgbClr val="E2E8F0"/>
            </a:solidFill>
          </a:ln>
          <a:effectLst/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DLCPD-25 · Plan-A 模型架构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  <a:ea typeface="Microsoft YaHei"/>
              </a:rPr>
              <a:t>检测训练策略与损失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594360" cy="4114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1325880"/>
            <a:ext cx="128016" cy="12801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271016"/>
            <a:ext cx="105613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1E293B"/>
                </a:solidFill>
                <a:latin typeface="Microsoft YaHei"/>
                <a:ea typeface="Microsoft YaHei"/>
              </a:rPr>
              <a:t>骨干初始化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64748B"/>
                </a:solidFill>
                <a:latin typeface="Microsoft YaHei"/>
                <a:ea typeface="Microsoft YaHei"/>
              </a:rPr>
              <a:t>ConvNeXt 骨干加载分类专家 best.pt 的 EMA 权重；FPN/RPN/RoI Heads 随机初始化。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313432"/>
            <a:ext cx="128016" cy="128016"/>
          </a:xfrm>
          <a:prstGeom prst="ellipse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258568"/>
            <a:ext cx="105613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1E293B"/>
                </a:solidFill>
                <a:latin typeface="Microsoft YaHei"/>
                <a:ea typeface="Microsoft YaHei"/>
              </a:rPr>
              <a:t>Repeat Factor Sampling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64748B"/>
                </a:solidFill>
                <a:latin typeface="Microsoft YaHei"/>
                <a:ea typeface="Microsoft YaHei"/>
              </a:rPr>
              <a:t>按 √(Nmax/Nc) 重复采样稀有害虫图片，缓解 96 类长尾。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300984"/>
            <a:ext cx="128016" cy="12801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246120"/>
            <a:ext cx="105613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1E293B"/>
                </a:solidFill>
                <a:latin typeface="Microsoft YaHei"/>
                <a:ea typeface="Microsoft YaHei"/>
              </a:rPr>
              <a:t>两阶段损失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64748B"/>
                </a:solidFill>
                <a:latin typeface="Microsoft YaHei"/>
                <a:ea typeface="Microsoft YaHei"/>
              </a:rPr>
              <a:t>RPN：前景/背景 BCE + 框回归 Smooth L1；RoI Heads：类别 CE + 框回归 Smooth L1。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288536"/>
            <a:ext cx="128016" cy="12801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233672"/>
            <a:ext cx="105613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1E293B"/>
                </a:solidFill>
                <a:latin typeface="Microsoft YaHei"/>
                <a:ea typeface="Microsoft YaHei"/>
              </a:rPr>
              <a:t>推理后处理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64748B"/>
                </a:solidFill>
                <a:latin typeface="Microsoft YaHei"/>
                <a:ea typeface="Microsoft YaHei"/>
              </a:rPr>
              <a:t>NMS IoU=0.5，每图最多 30 框；测试时 score 阈值 0.05 计算 AP。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DLCPD-25 · Plan-A 模型架构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  <a:ea typeface="Microsoft YaHei"/>
              </a:rPr>
              <a:t>检测模型训练过程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Microsoft YaHei"/>
                <a:ea typeface="Microsoft YaHei"/>
              </a:rPr>
              <a:t>验证 mAP 与早停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594360" cy="4114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etection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11201400" cy="4276898"/>
          </a:xfrm>
          <a:prstGeom prst="rect">
            <a:avLst/>
          </a:prstGeom>
          <a:ln w="12700">
            <a:solidFill>
              <a:srgbClr val="E2E8F0"/>
            </a:solidFill>
          </a:ln>
          <a:effectLst/>
        </p:spPr>
      </p:pic>
      <p:sp>
        <p:nvSpPr>
          <p:cNvPr id="7" name="TextBox 6"/>
          <p:cNvSpPr txBox="1"/>
          <p:nvPr/>
        </p:nvSpPr>
        <p:spPr>
          <a:xfrm>
            <a:off x="640080" y="56235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065F46"/>
                </a:solidFill>
                <a:latin typeface="Microsoft YaHei"/>
                <a:ea typeface="Microsoft YaHei"/>
              </a:rPr>
              <a:t>第 8 轮 val mAP50:95 最高（35.35%），连续 6 轮未提升后早停；官方测试集仅评估一次。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DLCPD-25 · Plan-A 模型架构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  <a:ea typeface="Microsoft YaHei"/>
              </a:rPr>
              <a:t>检测模型最终测试结果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594360" cy="4114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417320"/>
          <a:ext cx="6583680" cy="39090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280160"/>
                <a:gridCol w="388620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指标</a:t>
                      </a:r>
                    </a:p>
                  </a:txBody>
                  <a:tcPr marT="25400" marB="25400" marL="76200" marR="76200" anchor="ctr">
                    <a:solidFill>
                      <a:srgbClr val="065F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结果</a:t>
                      </a:r>
                    </a:p>
                  </a:txBody>
                  <a:tcPr marT="25400" marB="25400" marL="76200" marR="76200" anchor="ctr">
                    <a:solidFill>
                      <a:srgbClr val="065F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含义</a:t>
                      </a:r>
                    </a:p>
                  </a:txBody>
                  <a:tcPr marT="25400" marB="25400" marL="76200" marR="76200" anchor="ctr">
                    <a:solidFill>
                      <a:srgbClr val="065F46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mAP@0.5:0.95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34.3449%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IoU 0.50~0.95 平均 AP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AP50</a:t>
                      </a:r>
                    </a:p>
                  </a:txBody>
                  <a:tcPr marT="25400" marB="25400" marL="76200" marR="7620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59.6817%</a:t>
                      </a:r>
                    </a:p>
                  </a:txBody>
                  <a:tcPr marT="25400" marB="25400" marL="76200" marR="7620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IoU=0.5 时平均精度</a:t>
                      </a:r>
                    </a:p>
                  </a:txBody>
                  <a:tcPr marT="25400" marB="25400" marL="76200" marR="76200" anchor="ctr">
                    <a:solidFill>
                      <a:srgbClr val="F8FAF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AP75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34.8622%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IoU=0.75 时平均精度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Precision@0.5</a:t>
                      </a:r>
                    </a:p>
                  </a:txBody>
                  <a:tcPr marT="25400" marB="25400" marL="76200" marR="7620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88.1562%</a:t>
                      </a:r>
                    </a:p>
                  </a:txBody>
                  <a:tcPr marT="25400" marB="25400" marL="76200" marR="7620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高分检测框中正确比例</a:t>
                      </a:r>
                    </a:p>
                  </a:txBody>
                  <a:tcPr marT="25400" marB="25400" marL="76200" marR="76200" anchor="ctr">
                    <a:solidFill>
                      <a:srgbClr val="F8FAF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Recall@0.5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76.7102%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真实框被检出的比例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detection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463040"/>
            <a:ext cx="3931920" cy="2722098"/>
          </a:xfrm>
          <a:prstGeom prst="rect">
            <a:avLst/>
          </a:prstGeom>
          <a:ln w="12700">
            <a:solidFill>
              <a:srgbClr val="E2E8F0"/>
            </a:solidFill>
          </a:ln>
          <a:effectLst/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DLCPD-25 · Plan-A 模型架构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  <a:ea typeface="Microsoft YaHei"/>
              </a:rPr>
              <a:t>关键设计决策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594360" cy="4114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417320"/>
          <a:ext cx="1092708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82753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决策</a:t>
                      </a:r>
                    </a:p>
                  </a:txBody>
                  <a:tcPr marT="25400" marB="25400" marL="76200" marR="76200" anchor="ctr">
                    <a:solidFill>
                      <a:srgbClr val="065F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理由</a:t>
                      </a:r>
                    </a:p>
                  </a:txBody>
                  <a:tcPr marT="25400" marB="25400" marL="76200" marR="76200" anchor="ctr">
                    <a:solidFill>
                      <a:srgbClr val="065F46"/>
                    </a:solidFill>
                  </a:tcPr>
                </a:tc>
              </a:tr>
              <a:tr h="14630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分类用 384，检测用 640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分类保留纹理，检测保留定位精度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检测骨干复用分类骨干</a:t>
                      </a:r>
                    </a:p>
                  </a:txBody>
                  <a:tcPr marT="25400" marB="25400" marL="76200" marR="7620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DLCPD-25 已学到农业图像特征，迁移到害虫检测</a:t>
                      </a:r>
                    </a:p>
                  </a:txBody>
                  <a:tcPr marT="25400" marB="25400" marL="76200" marR="76200" anchor="ctr">
                    <a:solidFill>
                      <a:srgbClr val="F8FAFC"/>
                    </a:solidFill>
                  </a:tcPr>
                </a:tc>
              </a:tr>
              <a:tr h="3276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EMA 权重用于验证/保存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平滑训练后期波动，稳定 best 模型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两个任务独立早停</a:t>
                      </a:r>
                    </a:p>
                  </a:txBody>
                  <a:tcPr marT="25400" marB="25400" marL="76200" marR="7620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避免用一个任务的过拟合影响另一个任务</a:t>
                      </a:r>
                    </a:p>
                  </a:txBody>
                  <a:tcPr marT="25400" marB="25400" marL="76200" marR="76200" anchor="ctr">
                    <a:solidFill>
                      <a:srgbClr val="F8FAFC"/>
                    </a:solidFill>
                  </a:tcPr>
                </a:tc>
              </a:tr>
              <a:tr h="3276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测试集只评估一次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严格隔离模型选择与最终评估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DLCPD-25 · Plan-A 模型架构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  <a:ea typeface="Microsoft YaHei"/>
              </a:rPr>
              <a:t>推理系统与 Web 应用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594360" cy="4114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194560"/>
            <a:ext cx="1645920" cy="1371600"/>
          </a:xfrm>
          <a:prstGeom prst="roundRect">
            <a:avLst>
              <a:gd name="adj" fmla="val 10000"/>
            </a:avLst>
          </a:prstGeom>
          <a:solidFill>
            <a:srgbClr val="E0F2FE"/>
          </a:solidFill>
          <a:ln w="19050">
            <a:solidFill>
              <a:srgbClr val="028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95728"/>
            <a:ext cx="16459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1E293B"/>
                </a:solidFill>
                <a:latin typeface="Microsoft YaHei"/>
                <a:ea typeface="Microsoft YaHei"/>
              </a:rPr>
              <a:t>上传图片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231136" y="2670048"/>
            <a:ext cx="201168" cy="32004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450592" y="2194560"/>
            <a:ext cx="1645920" cy="137160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190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50592" y="2395728"/>
            <a:ext cx="16459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1E293B"/>
                </a:solidFill>
                <a:latin typeface="Microsoft YaHei"/>
                <a:ea typeface="Microsoft YaHei"/>
              </a:rPr>
              <a:t>EXIF 校正
RGB 转换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33088" y="2670048"/>
            <a:ext cx="201168" cy="32004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52544" y="2194560"/>
            <a:ext cx="1645920" cy="1371600"/>
          </a:xfrm>
          <a:prstGeom prst="roundRect">
            <a:avLst>
              <a:gd name="adj" fmla="val 10000"/>
            </a:avLst>
          </a:prstGeom>
          <a:solidFill>
            <a:srgbClr val="E0F2FE"/>
          </a:solidFill>
          <a:ln w="19050">
            <a:solidFill>
              <a:srgbClr val="028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52544" y="2395728"/>
            <a:ext cx="16459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1E293B"/>
                </a:solidFill>
                <a:latin typeface="Microsoft YaHei"/>
                <a:ea typeface="Microsoft YaHei"/>
              </a:rPr>
              <a:t>分类专家
Top-5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035040" y="2670048"/>
            <a:ext cx="201168" cy="32004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54496" y="2194560"/>
            <a:ext cx="1645920" cy="137160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190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4496" y="2395728"/>
            <a:ext cx="16459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1E293B"/>
                </a:solidFill>
                <a:latin typeface="Microsoft YaHei"/>
                <a:ea typeface="Microsoft YaHei"/>
              </a:rPr>
              <a:t>检测专家
害虫框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936992" y="2670048"/>
            <a:ext cx="201168" cy="32004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56448" y="2194560"/>
            <a:ext cx="1645920" cy="1371600"/>
          </a:xfrm>
          <a:prstGeom prst="roundRect">
            <a:avLst>
              <a:gd name="adj" fmla="val 10000"/>
            </a:avLst>
          </a:prstGeom>
          <a:solidFill>
            <a:srgbClr val="E0F2FE"/>
          </a:solidFill>
          <a:ln w="19050">
            <a:solidFill>
              <a:srgbClr val="028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6448" y="2395728"/>
            <a:ext cx="16459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1E293B"/>
                </a:solidFill>
                <a:latin typeface="Microsoft YaHei"/>
                <a:ea typeface="Microsoft YaHei"/>
              </a:rPr>
              <a:t>class_id 映射
结果融合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9838944" y="2670048"/>
            <a:ext cx="201168" cy="32004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058400" y="2194560"/>
            <a:ext cx="1645920" cy="137160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190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0" y="2395728"/>
            <a:ext cx="16459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1E293B"/>
                </a:solidFill>
                <a:latin typeface="Microsoft YaHei"/>
                <a:ea typeface="Microsoft YaHei"/>
              </a:rPr>
              <a:t>标注图 + JSON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20624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Microsoft YaHei"/>
                <a:ea typeface="Microsoft YaHei"/>
              </a:rPr>
              <a:t>FastAPI 应用：POST /api/analyze 返回分类 Top-5、检测框、标注图 base64。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6177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Microsoft YaHei"/>
                <a:ea typeface="Microsoft YaHei"/>
              </a:rPr>
              <a:t>训练进度看板：每 3 秒刷新，实时显示 loss 与验证指标曲线。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DLCPD-25 · Plan-A 模型架构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92840" y="6473952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  <a:ea typeface="Microsoft YaHei"/>
              </a:rPr>
              <a:t>工程实现与复现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594360" cy="4114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5303520" cy="393192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554480"/>
            <a:ext cx="48463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E2E8F0"/>
                </a:solidFill>
                <a:latin typeface="Microsoft YaHei"/>
                <a:ea typeface="Microsoft YaHei"/>
              </a:rPr>
              <a:t>project/src/dlcpd25_v2/
├── classification/    分类模型、损失、训练、评估
├── detection/         检测数据、模型、COCO 评估
├── serving/           双模型推理编排
└── web/               Web 应用与训练进度页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371600"/>
            <a:ext cx="5303520" cy="82296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463040"/>
            <a:ext cx="4937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50" b="1">
                <a:solidFill>
                  <a:srgbClr val="1E293B"/>
                </a:solidFill>
                <a:latin typeface="Microsoft YaHei"/>
                <a:ea typeface="Microsoft YaHei"/>
              </a:rPr>
              <a:t>分类训练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0">
                <a:solidFill>
                  <a:srgbClr val="64748B"/>
                </a:solidFill>
                <a:latin typeface="Microsoft YaHei"/>
                <a:ea typeface="Microsoft YaHei"/>
              </a:rPr>
              <a:t>python -m dlcpd25_v2.classification.train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377440"/>
            <a:ext cx="5303520" cy="82296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468880"/>
            <a:ext cx="4937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50" b="1">
                <a:solidFill>
                  <a:srgbClr val="1E293B"/>
                </a:solidFill>
                <a:latin typeface="Microsoft YaHei"/>
                <a:ea typeface="Microsoft YaHei"/>
              </a:rPr>
              <a:t>检测训练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0">
                <a:solidFill>
                  <a:srgbClr val="64748B"/>
                </a:solidFill>
                <a:latin typeface="Microsoft YaHei"/>
                <a:ea typeface="Microsoft YaHei"/>
              </a:rPr>
              <a:t>python -m dlcpd25_v2.detection.train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3383280"/>
            <a:ext cx="5303520" cy="82296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3474720"/>
            <a:ext cx="4937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50" b="1">
                <a:solidFill>
                  <a:srgbClr val="1E293B"/>
                </a:solidFill>
                <a:latin typeface="Microsoft YaHei"/>
                <a:ea typeface="Microsoft YaHei"/>
              </a:rPr>
              <a:t>测试评估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0">
                <a:solidFill>
                  <a:srgbClr val="64748B"/>
                </a:solidFill>
                <a:latin typeface="Microsoft YaHei"/>
                <a:ea typeface="Microsoft YaHei"/>
              </a:rPr>
              <a:t>python -m dlcpd25_v2.{classification,detection}.evaluate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4389120"/>
            <a:ext cx="5303520" cy="82296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4480560"/>
            <a:ext cx="4937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50" b="1">
                <a:solidFill>
                  <a:srgbClr val="1E293B"/>
                </a:solidFill>
                <a:latin typeface="Microsoft YaHei"/>
                <a:ea typeface="Microsoft YaHei"/>
              </a:rPr>
              <a:t>启动 Web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0">
                <a:solidFill>
                  <a:srgbClr val="64748B"/>
                </a:solidFill>
                <a:latin typeface="Microsoft YaHei"/>
                <a:ea typeface="Microsoft YaHei"/>
              </a:rPr>
              <a:t>python -m dlcpd25_v2.web --config configs/plan-a/app.yaml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DLCPD-25 · Plan-A 模型架构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  <a:ea typeface="Microsoft YaHei"/>
              </a:rPr>
              <a:t>限制与未来工作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594360" cy="4114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1520" y="1371600"/>
            <a:ext cx="128016" cy="128016"/>
          </a:xfrm>
          <a:prstGeom prst="ellipse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1316736"/>
            <a:ext cx="10469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1E293B"/>
                </a:solidFill>
                <a:latin typeface="Microsoft YaHei"/>
                <a:ea typeface="Microsoft YaHei"/>
              </a:rPr>
              <a:t>检测小目标仍弱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64748B"/>
                </a:solidFill>
                <a:latin typeface="Microsoft YaHei"/>
                <a:ea typeface="Microsoft YaHei"/>
              </a:rPr>
              <a:t>AP small 仅 9.13%，可引入 P2 增强、更高分辨率或 DETR/YOLO。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514600"/>
            <a:ext cx="128016" cy="12801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459736"/>
            <a:ext cx="10469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1E293B"/>
                </a:solidFill>
                <a:latin typeface="Microsoft YaHei"/>
                <a:ea typeface="Microsoft YaHei"/>
              </a:rPr>
              <a:t>稀有类别样本少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64748B"/>
                </a:solidFill>
                <a:latin typeface="Microsoft YaHei"/>
                <a:ea typeface="Microsoft YaHei"/>
              </a:rPr>
              <a:t>IP102 部分类仅数十框，可使用原始 75k 分类图做弱监督/伪标签。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3657600"/>
            <a:ext cx="128016" cy="128016"/>
          </a:xfrm>
          <a:prstGeom prst="ellipse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602736"/>
            <a:ext cx="10469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1E293B"/>
                </a:solidFill>
                <a:latin typeface="Microsoft YaHei"/>
                <a:ea typeface="Microsoft YaHei"/>
              </a:rPr>
              <a:t>分类 Macro-F1 有提升空间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64748B"/>
                </a:solidFill>
                <a:latin typeface="Microsoft YaHei"/>
                <a:ea typeface="Microsoft YaHei"/>
              </a:rPr>
              <a:t>可尝试层级 softmax、更大 backbone、蒸馏或更强调尾类的采样。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4800600"/>
            <a:ext cx="128016" cy="128016"/>
          </a:xfrm>
          <a:prstGeom prst="ellipse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45736"/>
            <a:ext cx="10469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1E293B"/>
                </a:solidFill>
                <a:latin typeface="Microsoft YaHei"/>
                <a:ea typeface="Microsoft YaHei"/>
              </a:rPr>
              <a:t>部署优化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64748B"/>
                </a:solidFill>
                <a:latin typeface="Microsoft YaHei"/>
                <a:ea typeface="Microsoft YaHei"/>
              </a:rPr>
              <a:t>当前 PyTorch 权重较大，可导出 ONNX/TensorRT；检测可替换 YOLO 系列。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DLCPD-25 · Plan-A 模型架构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983480"/>
            <a:ext cx="12191695" cy="457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5156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总结</a:t>
            </a:r>
          </a:p>
        </p:txBody>
      </p:sp>
      <p:sp>
        <p:nvSpPr>
          <p:cNvPr id="5" name="Oval 4"/>
          <p:cNvSpPr/>
          <p:nvPr/>
        </p:nvSpPr>
        <p:spPr>
          <a:xfrm>
            <a:off x="1920240" y="1947672"/>
            <a:ext cx="164592" cy="164592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0" y="1874519"/>
            <a:ext cx="8229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  <a:ea typeface="Microsoft YaHei"/>
              </a:rPr>
              <a:t>分类专家 ConvNeXt-Tiny@384：Top-1 89.22%，Macro-F1 75.35%</a:t>
            </a:r>
          </a:p>
        </p:txBody>
      </p:sp>
      <p:sp>
        <p:nvSpPr>
          <p:cNvPr id="7" name="Oval 6"/>
          <p:cNvSpPr/>
          <p:nvPr/>
        </p:nvSpPr>
        <p:spPr>
          <a:xfrm>
            <a:off x="1920240" y="2633472"/>
            <a:ext cx="164592" cy="164592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0" y="2560320"/>
            <a:ext cx="8229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  <a:ea typeface="Microsoft YaHei"/>
              </a:rPr>
              <a:t>检测专家 ConvNeXt-Tiny-FPN@640：mAP50:95 34.34%，Precision 88.16%</a:t>
            </a:r>
          </a:p>
        </p:txBody>
      </p:sp>
      <p:sp>
        <p:nvSpPr>
          <p:cNvPr id="9" name="Oval 8"/>
          <p:cNvSpPr/>
          <p:nvPr/>
        </p:nvSpPr>
        <p:spPr>
          <a:xfrm>
            <a:off x="1920240" y="3319272"/>
            <a:ext cx="164592" cy="164592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0" y="3246120"/>
            <a:ext cx="8229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  <a:ea typeface="Microsoft YaHei"/>
              </a:rPr>
              <a:t>双专家独立训练、独立评估、统一编排，推理链路完整可复现</a:t>
            </a:r>
          </a:p>
        </p:txBody>
      </p:sp>
      <p:sp>
        <p:nvSpPr>
          <p:cNvPr id="11" name="Oval 10"/>
          <p:cNvSpPr/>
          <p:nvPr/>
        </p:nvSpPr>
        <p:spPr>
          <a:xfrm>
            <a:off x="1920240" y="4005072"/>
            <a:ext cx="164592" cy="164592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6000" y="3931920"/>
            <a:ext cx="8229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  <a:ea typeface="Microsoft YaHei"/>
              </a:rPr>
              <a:t>数据工程、训练看板、Web 应用、测试报告与演示材料均已落地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3492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>
                <a:solidFill>
                  <a:srgbClr val="059669"/>
                </a:solidFill>
                <a:latin typeface="Microsoft YaHei"/>
                <a:ea typeface="Microsoft YaHei"/>
              </a:rPr>
              <a:t>感谢观看 · 欢迎提问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