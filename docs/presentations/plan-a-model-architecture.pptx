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4937760"/>
            <a:ext cx="12191695" cy="54864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874519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基于 DLCPD-25 的农产品病虫害与缺陷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251460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200" b="1">
                <a:solidFill>
                  <a:srgbClr val="FFFFFF"/>
                </a:solidFill>
                <a:latin typeface="Microsoft YaHei"/>
                <a:ea typeface="Microsoft YaHei"/>
              </a:rPr>
              <a:t>分类目标检测系统 · 模型架构详解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3429000"/>
            <a:ext cx="1033272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0">
                <a:solidFill>
                  <a:srgbClr val="BBDCCC"/>
                </a:solidFill>
                <a:latin typeface="Microsoft YaHei"/>
                <a:ea typeface="Microsoft YaHei"/>
              </a:rPr>
              <a:t>Plan-A 双专家模型：ConvNeXt-Tiny 分类 + ConvNeXt-Tiny-FPN Faster R-CNN 检测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5806440"/>
            <a:ext cx="103327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0">
                <a:solidFill>
                  <a:srgbClr val="8BA396"/>
                </a:solidFill>
                <a:latin typeface="Microsoft YaHei"/>
                <a:ea typeface="Microsoft YaHei"/>
              </a:rPr>
              <a:t>2026-08-18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1430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280160" y="1188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项目背景与任务定义</a:t>
            </a:r>
          </a:p>
        </p:txBody>
      </p:sp>
      <p:sp>
        <p:nvSpPr>
          <p:cNvPr id="7" name="Oval 6"/>
          <p:cNvSpPr/>
          <p:nvPr/>
        </p:nvSpPr>
        <p:spPr>
          <a:xfrm>
            <a:off x="6492240" y="11430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92240" y="11430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32320" y="11887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数据集概览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1920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80160" y="19659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为什么从 v1 联合模型转向双专家模型</a:t>
            </a:r>
          </a:p>
        </p:txBody>
      </p:sp>
      <p:sp>
        <p:nvSpPr>
          <p:cNvPr id="13" name="Oval 12"/>
          <p:cNvSpPr/>
          <p:nvPr/>
        </p:nvSpPr>
        <p:spPr>
          <a:xfrm>
            <a:off x="6492240" y="192024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92240" y="192024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132320" y="196596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Plan-A 总体架构</a:t>
            </a:r>
          </a:p>
        </p:txBody>
      </p:sp>
      <p:sp>
        <p:nvSpPr>
          <p:cNvPr id="16" name="Oval 15"/>
          <p:cNvSpPr/>
          <p:nvPr/>
        </p:nvSpPr>
        <p:spPr>
          <a:xfrm>
            <a:off x="640080" y="26974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2697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280160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分类专家：ConvNeXt-Tiny</a:t>
            </a:r>
          </a:p>
        </p:txBody>
      </p:sp>
      <p:sp>
        <p:nvSpPr>
          <p:cNvPr id="19" name="Oval 18"/>
          <p:cNvSpPr/>
          <p:nvPr/>
        </p:nvSpPr>
        <p:spPr>
          <a:xfrm>
            <a:off x="6492240" y="269748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2240" y="269748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32320" y="274320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检测专家：ConvNeXt-Tiny-FPN + Faster R-CNN</a:t>
            </a:r>
          </a:p>
        </p:txBody>
      </p:sp>
      <p:sp>
        <p:nvSpPr>
          <p:cNvPr id="22" name="Oval 21"/>
          <p:cNvSpPr/>
          <p:nvPr/>
        </p:nvSpPr>
        <p:spPr>
          <a:xfrm>
            <a:off x="640080" y="34747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80160" y="352043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训练策略与关键组件</a:t>
            </a:r>
          </a:p>
        </p:txBody>
      </p:sp>
      <p:sp>
        <p:nvSpPr>
          <p:cNvPr id="25" name="Oval 24"/>
          <p:cNvSpPr/>
          <p:nvPr/>
        </p:nvSpPr>
        <p:spPr>
          <a:xfrm>
            <a:off x="6492240" y="347472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92240" y="347472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08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32320" y="3520439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训练过程与最终测试指标</a:t>
            </a:r>
          </a:p>
        </p:txBody>
      </p:sp>
      <p:sp>
        <p:nvSpPr>
          <p:cNvPr id="28" name="Oval 27"/>
          <p:cNvSpPr/>
          <p:nvPr/>
        </p:nvSpPr>
        <p:spPr>
          <a:xfrm>
            <a:off x="640080" y="42519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09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280160" y="4297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与 v1 基线对比</a:t>
            </a:r>
          </a:p>
        </p:txBody>
      </p:sp>
      <p:sp>
        <p:nvSpPr>
          <p:cNvPr id="31" name="Oval 30"/>
          <p:cNvSpPr/>
          <p:nvPr/>
        </p:nvSpPr>
        <p:spPr>
          <a:xfrm>
            <a:off x="6492240" y="425196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92240" y="425196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10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132320" y="429768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推理系统与 Web 应用</a:t>
            </a:r>
          </a:p>
        </p:txBody>
      </p:sp>
      <p:sp>
        <p:nvSpPr>
          <p:cNvPr id="34" name="Oval 33"/>
          <p:cNvSpPr/>
          <p:nvPr/>
        </p:nvSpPr>
        <p:spPr>
          <a:xfrm>
            <a:off x="640080" y="5029200"/>
            <a:ext cx="457200" cy="457200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5029200"/>
            <a:ext cx="457200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Microsoft YaHei"/>
                <a:ea typeface="Microsoft YaHei"/>
              </a:rPr>
              <a:t>11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280160" y="5074920"/>
            <a:ext cx="50292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0F172A"/>
                </a:solidFill>
                <a:latin typeface="Microsoft YaHei"/>
                <a:ea typeface="Microsoft YaHei"/>
              </a:rPr>
              <a:t>工程实现、限制与未来工作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项目背景与任务定义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任务一：DLCPD-25 细粒度分类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输入一张农作物图片，识别 203 类病虫害、健康状态与生理缺陷；输出 Top-5 类别。
类别空间：22 个宿主作物 × 4 类标签属性。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280160"/>
            <a:ext cx="5394960" cy="228600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120640" cy="21031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284C7"/>
                </a:solidFill>
                <a:latin typeface="Microsoft YaHei"/>
                <a:ea typeface="Microsoft YaHei"/>
              </a:rPr>
              <a:t>任务二：IP102 害虫目标检测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对图片中的农业害虫输出边界框和类别；检测空间为 96 类，检测结果映射回 DLCPD-25 公共 class_id。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840480"/>
            <a:ext cx="10881360" cy="146304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3931920"/>
            <a:ext cx="10607040" cy="12801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Microsoft YaHei"/>
                <a:ea typeface="Microsoft YaHei"/>
              </a:rPr>
              <a:t>系统输出合同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Web 系统同时返回：整图 203 类 Top-5 分类 + 96 类害虫检测框 + 标注图。病害、健康和生理缺陷只有图像级标签，不做伪检测框。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数据集概览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13716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DLCPD-25 分类数据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221,396 张图片；203 个细粒度类别；22 个宿主作物。
类别不均衡：单类 5 ~ 10,619 张。
划分：177,021 / 22,178 / 22,179。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126480" y="1280160"/>
            <a:ext cx="5394960" cy="219456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63640" y="1371600"/>
            <a:ext cx="5120640" cy="2011679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284C7"/>
                </a:solidFill>
                <a:latin typeface="Microsoft YaHei"/>
                <a:ea typeface="Microsoft YaHei"/>
              </a:rPr>
              <a:t>IP102 检测数据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18,976 个标注样本；22,283 个有效框；97 个源标签映射为 96 个检测类。
约 93% 图片为单目标；目标中位相对面积 0.35。
划分：12,142 / 3,036 / 3,798（官方 test 原样保留）。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93192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设计启示：分类任务的核心矛盾是长尾分布；检测任务的核心矛盾是细粒度害虫外观相似 + 小目标。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59669"/>
                </a:solidFill>
                <a:latin typeface="Microsoft YaHei"/>
                <a:ea typeface="Microsoft YaHei"/>
              </a:rPr>
              <a:t>pest 农业有害生物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126 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E11D48"/>
                </a:solidFill>
                <a:latin typeface="Microsoft YaHei"/>
                <a:ea typeface="Microsoft YaHei"/>
              </a:rPr>
              <a:t>disease 植物病害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57 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55080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D97706"/>
                </a:solidFill>
                <a:latin typeface="Microsoft YaHei"/>
                <a:ea typeface="Microsoft YaHei"/>
              </a:rPr>
              <a:t>healthy 健康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17 类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006839" y="4434840"/>
            <a:ext cx="2606040" cy="1051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3999" y="4526279"/>
            <a:ext cx="233172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64748B"/>
                </a:solidFill>
                <a:latin typeface="Microsoft YaHei"/>
                <a:ea typeface="Microsoft YaHei"/>
              </a:rPr>
              <a:t>disorder 生理缺陷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3 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为什么采用双专家架构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任务特性不同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分类是 203 类细粒度整图识别，检测是 96 类目标定位与识别；标签空间和优化目标不同。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分辨率需求不同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分类使用 384×384 以保留细粒度纹理；检测使用最长边 640 以保留定位精度。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长尾处理不同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分类采用类别平衡采样；检测采用 Repeat Factor Sampling 按图像稀有度重复采样。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1480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训练节奏不同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两个任务可独立选择学习率、早停耐心和模型选择指标，避免互相干扰。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7492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部署更灵活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两个专家可分别导出、升级和替换；Web 层负责统一编排与结果融合。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Plan-A 总体架构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166360" y="1234440"/>
            <a:ext cx="1828800" cy="68580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166360" y="13898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输入图片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166360" y="2148840"/>
            <a:ext cx="1828800" cy="640080"/>
          </a:xfrm>
          <a:prstGeom prst="roundRect">
            <a:avLst>
              <a:gd name="adj" fmla="val 20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166360" y="2304288"/>
            <a:ext cx="1828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>
                <a:solidFill>
                  <a:srgbClr val="0F172A"/>
                </a:solidFill>
                <a:latin typeface="Microsoft YaHei"/>
                <a:ea typeface="Microsoft YaHei"/>
              </a:rPr>
              <a:t>EXIF 校正
RGB 转换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14400" y="3246120"/>
            <a:ext cx="4206240" cy="1554480"/>
          </a:xfrm>
          <a:prstGeom prst="roundRect">
            <a:avLst>
              <a:gd name="adj" fmla="val 8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3832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分类专家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703320"/>
            <a:ext cx="3931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ConvNeXt-Tiny @ 384
主头 203 类 + 宿主/属性辅助头
输出 Top-5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040880" y="3246120"/>
            <a:ext cx="4206240" cy="1554480"/>
          </a:xfrm>
          <a:prstGeom prst="roundRect">
            <a:avLst>
              <a:gd name="adj" fmla="val 8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0" y="3383280"/>
            <a:ext cx="42062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检测专家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178040" y="3703320"/>
            <a:ext cx="393192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ConvNeXt-Tiny-FPN @ 640
Faster R-CNN：RPN + RoI Heads
输出 96 类害虫框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566160" y="5166360"/>
            <a:ext cx="5029200" cy="914400"/>
          </a:xfrm>
          <a:prstGeom prst="roundRect">
            <a:avLst>
              <a:gd name="adj" fmla="val 15000"/>
            </a:avLst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66160" y="5321808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Microsoft YaHei"/>
                <a:ea typeface="Microsoft YaHei"/>
              </a:rPr>
              <a:t>结果融合：检测框映射 class_id 0..202
+ 整图 Top-5 + 标注图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6080760" y="1920240"/>
            <a:ext cx="0" cy="22860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 flipH="1">
            <a:off x="3017520" y="2788920"/>
            <a:ext cx="3063240" cy="45720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6080760" y="2788920"/>
            <a:ext cx="3063240" cy="45720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>
            <a:off x="3017520" y="4800600"/>
            <a:ext cx="1828800" cy="36576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7589520" y="4800600"/>
            <a:ext cx="1554480" cy="365760"/>
          </a:xfrm>
          <a:prstGeom prst="line">
            <a:avLst/>
          </a:prstGeom>
          <a:ln w="19050">
            <a:solidFill>
              <a:srgbClr val="64748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TextBox 20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分类专家：ConvNeXt-Tiny @ 384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640080" y="1280160"/>
            <a:ext cx="5486400" cy="4206240"/>
          </a:xfrm>
          <a:prstGeom prst="roundRect">
            <a:avLst>
              <a:gd name="adj" fmla="val 5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1732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输入：384×384×3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43000" y="1874519"/>
            <a:ext cx="4480560" cy="594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143000" y="201168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ConvNeXt-Tiny Stem / 4 个 Stage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143000" y="2697480"/>
            <a:ext cx="4480560" cy="594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143000" y="283464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Global Average Pooling + LayerNorm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43000" y="3520440"/>
            <a:ext cx="4480560" cy="59436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25400">
            <a:solidFill>
              <a:srgbClr val="0284C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143000" y="3657600"/>
            <a:ext cx="448056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共享特征向量 768-d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143000" y="4343400"/>
            <a:ext cx="1417320" cy="777240"/>
          </a:xfrm>
          <a:prstGeom prst="roundRect">
            <a:avLst>
              <a:gd name="adj" fmla="val 15000"/>
            </a:avLst>
          </a:prstGeom>
          <a:solidFill>
            <a:srgbClr val="ECFDF5"/>
          </a:solidFill>
          <a:ln w="19050">
            <a:solidFill>
              <a:srgbClr val="05966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143000" y="44988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主分类头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输出 203 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679191" y="4343400"/>
            <a:ext cx="141732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79191" y="44988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宿主辅助头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输出 22 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215383" y="4343400"/>
            <a:ext cx="1417320" cy="777240"/>
          </a:xfrm>
          <a:prstGeom prst="roundRect">
            <a:avLst>
              <a:gd name="adj" fmla="val 15000"/>
            </a:avLst>
          </a:prstGeom>
          <a:solidFill>
            <a:srgbClr val="FFFFFF"/>
          </a:solidFill>
          <a:ln w="19050">
            <a:solidFill>
              <a:srgbClr val="6474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215383" y="4498848"/>
            <a:ext cx="14173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100" b="1">
                <a:solidFill>
                  <a:srgbClr val="0F172A"/>
                </a:solidFill>
                <a:latin typeface="Microsoft YaHei"/>
                <a:ea typeface="Microsoft YaHei"/>
              </a:rPr>
              <a:t>属性辅助头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输出 4 类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0" y="1371600"/>
            <a:ext cx="512064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ConvNeXt Block 核心组件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400800" y="1783080"/>
          <a:ext cx="5120640" cy="2926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560320"/>
                <a:gridCol w="2560320"/>
              </a:tblGrid>
              <a:tr h="418011"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组件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200">
                          <a:solidFill>
                            <a:srgbClr val="FFFFFF"/>
                          </a:solidFill>
                        </a:rPr>
                        <a:t>作用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7×7 Depthwise Conv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空间特征，参数少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LayerNorm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替代 BatchNorm，训练更稳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1×1 Linear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通道混合，倒置瓶颈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GELU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现代激活函数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418011">
                <a:tc>
                  <a:txBody>
                    <a:bodyPr/>
                    <a:lstStyle/>
                    <a:p>
                      <a:r>
                        <a:rPr sz="1100"/>
                        <a:t>Layer Scale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稳定深层训练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8014">
                <a:tc>
                  <a:txBody>
                    <a:bodyPr/>
                    <a:lstStyle/>
                    <a:p>
                      <a:r>
                        <a:rPr sz="1100"/>
                        <a:t>Stochastic Depth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随机深度正则化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分类专家训练策略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长尾分类损失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Class-Balanced Focal Loss（γ=2）+ Label Smoothing；主损失与类别权重共同抑制头部类。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类别平衡采样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√逆频率采样器；在不扩数据的情况下提升尾类出现频率。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层级辅助监督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22 宿主头 + 4 属性头，仅训练时使用，帮助主干学习层级结构。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1480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优化与正则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AdamW；backbone lr=5e-5 / head lr=3e-4；warmup 3 epochs + cosine；EMA 0.999。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74920"/>
            <a:ext cx="146304" cy="7315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训练与选择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40 轮计划，第 5 轮 val Macro-F1 最高 74.38，第 11 轮早停；测试集只评估一次。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检测专家：ConvNeXt-Tiny-FPN + Faster R-CNN @ 640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3152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1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96ch, /4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6596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96596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2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192ch, /8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0040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3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384ch, /16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508760"/>
            <a:ext cx="1051560" cy="1051560"/>
          </a:xfrm>
          <a:prstGeom prst="roundRect">
            <a:avLst>
              <a:gd name="adj" fmla="val 15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434840" y="1691640"/>
            <a:ext cx="105156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100"/>
              </a:spcAft>
            </a:pPr>
            <a:r>
              <a:rPr sz="1300" b="1">
                <a:solidFill>
                  <a:srgbClr val="0284C7"/>
                </a:solidFill>
                <a:latin typeface="Microsoft YaHei"/>
                <a:ea typeface="Microsoft YaHei"/>
              </a:rPr>
              <a:t>Stage 4</a:t>
            </a:r>
          </a:p>
          <a:p>
            <a:pPr algn="ctr">
              <a:spcAft>
                <a:spcPts val="100"/>
              </a:spcAft>
            </a:pPr>
            <a:r>
              <a:rPr sz="1000" b="0">
                <a:solidFill>
                  <a:srgbClr val="475569"/>
                </a:solidFill>
                <a:latin typeface="Microsoft YaHei"/>
                <a:ea typeface="Microsoft YaHei"/>
              </a:rPr>
              <a:t>768ch, /32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31520" y="2788920"/>
            <a:ext cx="4937760" cy="685800"/>
          </a:xfrm>
          <a:prstGeom prst="roundRect">
            <a:avLst>
              <a:gd name="adj" fmla="val 20000"/>
            </a:avLst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926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FFFFFF"/>
                </a:solidFill>
                <a:latin typeface="Microsoft YaHei"/>
                <a:ea typeface="Microsoft YaHei"/>
              </a:rPr>
              <a:t>FPN：P2~P6，统一 256 通道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2926080"/>
            <a:ext cx="49377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FPN：P2~P6，统一 256 通道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7033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3886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RPN
候选框 + 前景/背景打分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383280" y="3703320"/>
            <a:ext cx="2286000" cy="91440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383280" y="3886200"/>
            <a:ext cx="22860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400" b="0">
                <a:solidFill>
                  <a:srgbClr val="0F172A"/>
                </a:solidFill>
                <a:latin typeface="Microsoft YaHei"/>
                <a:ea typeface="Microsoft YaHei"/>
              </a:rPr>
              <a:t>RoIAlign + RoI Heads
96 类分类 + 框回归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1463040"/>
            <a:ext cx="53949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400" b="1">
                <a:solidFill>
                  <a:srgbClr val="0F172A"/>
                </a:solidFill>
                <a:latin typeface="Microsoft YaHei"/>
                <a:ea typeface="Microsoft YaHei"/>
              </a:rPr>
              <a:t>关键设计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1874519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00800" y="1874519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输入 640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保持宽高比缩放，禁止 224 直缩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26480" y="2532887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0" y="2532887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骨干初始化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加载分类专家 best.pt 的 EMA 骨干权重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126480" y="3191256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400800" y="3191256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单目标场景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每图最多输出 30 框；NMS IoU=0.5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3849624"/>
            <a:ext cx="128016" cy="502920"/>
          </a:xfrm>
          <a:prstGeom prst="rect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00800" y="3849624"/>
            <a:ext cx="50292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损失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RPN 分类/回归 + RoI 分类/回归联合训练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检测专家训练策略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3444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3444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Repeat Factor Sampling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按 √(Nmax/Nc) 重复采样稀有害虫图片，缓解 96 类长尾。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19456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19456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两阶段初始化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ConvNeXt 骨干来自分类模型；FPN/RPN/RoI Heads 随机初始化。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15468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15468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优化设置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AdamW；backbone lr=1e-5 / head lr=1e-4；warmup 1 epoch + cosine；EMA 0.999。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11480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11480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模型选择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验证集 mAP@0.5:0.95；第 8 轮最佳 35.35；第 14 轮早停。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40080" y="5074920"/>
            <a:ext cx="146304" cy="731520"/>
          </a:xfrm>
          <a:prstGeom prst="rect">
            <a:avLst/>
          </a:prstGeom>
          <a:solidFill>
            <a:srgbClr val="0284C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5074920"/>
            <a:ext cx="1051560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COCO 评估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官方 test 保持隔离；maxDets=[1,10,100]；同时记录 AP50/AP75/AR。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训练过程曲线</a:t>
            </a:r>
          </a:p>
        </p:txBody>
      </p:sp>
      <p:pic>
        <p:nvPicPr>
          <p:cNvPr id="4" name="Picture 3" descr="classification_his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280160"/>
            <a:ext cx="11155680" cy="4259441"/>
          </a:xfrm>
          <a:prstGeom prst="rect">
            <a:avLst/>
          </a:prstGeom>
        </p:spPr>
      </p:pic>
      <p:pic>
        <p:nvPicPr>
          <p:cNvPr id="5" name="Picture 4" descr="detection_history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977639"/>
            <a:ext cx="11155680" cy="4259441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最终测试集指标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822960" y="146304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分类指标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状态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Top-1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89.2240%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良好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Top-5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97.7366%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优秀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Macro-F1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75.3537%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良好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400800" y="1463040"/>
          <a:ext cx="512064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377440"/>
                <a:gridCol w="1371600"/>
                <a:gridCol w="1371600"/>
              </a:tblGrid>
              <a:tr h="548640"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检测指标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数值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</a:rPr>
                        <a:t>状态</a:t>
                      </a:r>
                    </a:p>
                  </a:txBody>
                  <a:tcPr>
                    <a:solidFill>
                      <a:srgbClr val="0F2E1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mAP50:95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34.3449%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良好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AP50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59.6817%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待提升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Precision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88.1562%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>
                          <a:solidFill>
                            <a:srgbClr val="0F172A"/>
                          </a:solidFill>
                        </a:rPr>
                        <a:t>优秀</a:t>
                      </a:r>
                    </a:p>
                  </a:txBody>
                  <a:tcPr>
                    <a:solidFill>
                      <a:srgbClr val="F1F5F9"/>
                    </a:solidFill>
                  </a:tcPr>
                </a:tc>
              </a:tr>
            </a:tbl>
          </a:graphicData>
        </a:graphic>
      </p:graphicFrame>
      <p:sp>
        <p:nvSpPr>
          <p:cNvPr id="6" name="Rounded Rectangle 5"/>
          <p:cNvSpPr/>
          <p:nvPr/>
        </p:nvSpPr>
        <p:spPr>
          <a:xfrm>
            <a:off x="822960" y="4023360"/>
            <a:ext cx="10515600" cy="1371600"/>
          </a:xfrm>
          <a:prstGeom prst="roundRect">
            <a:avLst>
              <a:gd name="adj" fmla="val 6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4114800"/>
            <a:ext cx="1024128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10B981"/>
                </a:solidFill>
                <a:latin typeface="Microsoft YaHei"/>
                <a:ea typeface="Microsoft YaHei"/>
              </a:rPr>
              <a:t>模型冻结原则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测试集只评估一次；best.pt 由验证集选择；EMA 权重用于最终推理。分类与检测互不复用测试结果。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最终测试指标总览</a:t>
            </a:r>
          </a:p>
        </p:txBody>
      </p:sp>
      <p:pic>
        <p:nvPicPr>
          <p:cNvPr id="4" name="Picture 3" descr="plan_a_metric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1325880"/>
            <a:ext cx="10972800" cy="418961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40080" y="5440680"/>
            <a:ext cx="109728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300" b="0">
                <a:solidFill>
                  <a:srgbClr val="0F172A"/>
                </a:solidFill>
                <a:latin typeface="Microsoft YaHei"/>
                <a:ea typeface="Microsoft YaHei"/>
              </a:rPr>
              <a:t>说明：分类 Top-5 表现优秀；检测 Precision 较高，AP50 和小目标仍有提升空间。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推理与 Web 系统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02920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02920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上传图片</a:t>
            </a:r>
          </a:p>
        </p:txBody>
      </p:sp>
      <p:sp>
        <p:nvSpPr>
          <p:cNvPr id="6" name="Right Arrow 5"/>
          <p:cNvSpPr/>
          <p:nvPr/>
        </p:nvSpPr>
        <p:spPr>
          <a:xfrm>
            <a:off x="2194560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2404872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404872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EXIF/RGB 预处理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96512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306824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306824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分类专家
Top-5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5998464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08776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08776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检测专家
害虫框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7900416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110728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0F2F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110728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结果融合
class_id 映射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9802368" y="2395728"/>
            <a:ext cx="201168" cy="320040"/>
          </a:xfrm>
          <a:prstGeom prst="rightArrow">
            <a:avLst/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10012680" y="2011680"/>
            <a:ext cx="1645920" cy="1234440"/>
          </a:xfrm>
          <a:prstGeom prst="roundRect">
            <a:avLst>
              <a:gd name="adj" fmla="val 12000"/>
            </a:avLst>
          </a:prstGeom>
          <a:solidFill>
            <a:srgbClr val="ECFD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012680" y="2212848"/>
            <a:ext cx="164592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标注图 + JSON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374903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7240" y="3840479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284C7"/>
                </a:solidFill>
                <a:latin typeface="Microsoft YaHei"/>
                <a:ea typeface="Microsoft YaHei"/>
              </a:rPr>
              <a:t>Web 应用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FastAPI + 原生 HTML/JS；POST /api/analyze；返回分类 Top-5、检测框、标注图 base64。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26480" y="3749039"/>
            <a:ext cx="5394960" cy="1645920"/>
          </a:xfrm>
          <a:prstGeom prst="roundRect">
            <a:avLst>
              <a:gd name="adj" fmla="val 6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263640" y="3840479"/>
            <a:ext cx="5120640" cy="1463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>
                <a:solidFill>
                  <a:srgbClr val="059669"/>
                </a:solidFill>
                <a:latin typeface="Microsoft YaHei"/>
                <a:ea typeface="Microsoft YaHei"/>
              </a:rPr>
              <a:t>训练进度页</a:t>
            </a:r>
          </a:p>
          <a:p>
            <a:pPr algn="l">
              <a:spcAft>
                <a:spcPts val="400"/>
              </a:spcAft>
            </a:pPr>
            <a:r>
              <a:rPr sz="1200" b="0">
                <a:solidFill>
                  <a:srgbClr val="0F172A"/>
                </a:solidFill>
                <a:latin typeface="Microsoft YaHei"/>
                <a:ea typeface="Microsoft YaHei"/>
              </a:rPr>
              <a:t>独立进度服务；3 秒自动刷新；loss 与验证指标曲线。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工程实现与复现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731520" y="1371600"/>
            <a:ext cx="5303520" cy="3291840"/>
          </a:xfrm>
          <a:prstGeom prst="roundRect">
            <a:avLst>
              <a:gd name="adj" fmla="val 5000"/>
            </a:avLst>
          </a:prstGeom>
          <a:solidFill>
            <a:srgbClr val="0B12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554480"/>
            <a:ext cx="4937760" cy="2926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0">
                <a:solidFill>
                  <a:srgbClr val="E2E8F0"/>
                </a:solidFill>
                <a:latin typeface="Microsoft YaHei"/>
                <a:ea typeface="Microsoft YaHei"/>
              </a:rPr>
              <a:t>project/src/dlcpd25_v2/
├── classification/  分类模型、损失、指标、训练、评估
├── detection/       检测数据、模型、COCO 评估、训练
├── serving/         双模型推理编排
└── web/             训练进度页 + 双模型 Web 应用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0" y="1463040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583680" y="155448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分类训练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python -m dlcpd25_v2.classification.train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0" y="2606040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0" y="2697480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检测训练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python -m dlcpd25_v2.detection.train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0" y="3749039"/>
            <a:ext cx="5120640" cy="914400"/>
          </a:xfrm>
          <a:prstGeom prst="roundRect">
            <a:avLst>
              <a:gd name="adj" fmla="val 10000"/>
            </a:avLst>
          </a:prstGeom>
          <a:solidFill>
            <a:srgbClr val="F1F5F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0" y="3840479"/>
            <a:ext cx="475488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100"/>
              </a:spcAft>
            </a:pPr>
            <a:r>
              <a:rPr sz="1300" b="1">
                <a:solidFill>
                  <a:srgbClr val="0F172A"/>
                </a:solidFill>
                <a:latin typeface="Microsoft YaHei"/>
                <a:ea typeface="Microsoft YaHei"/>
              </a:rPr>
              <a:t>双模型 Web</a:t>
            </a:r>
          </a:p>
          <a:p>
            <a:pPr algn="l">
              <a:spcAft>
                <a:spcPts val="100"/>
              </a:spcAft>
            </a:pPr>
            <a:r>
              <a:rPr sz="1100" b="0">
                <a:solidFill>
                  <a:srgbClr val="475569"/>
                </a:solidFill>
                <a:latin typeface="Microsoft YaHei"/>
                <a:ea typeface="Microsoft YaHei"/>
              </a:rPr>
              <a:t>python -m dlcpd25_v2.web --config configs/plan-a/app.yaml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144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109728"/>
            <a:ext cx="1115568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2400" b="1">
                <a:solidFill>
                  <a:srgbClr val="FFFFFF"/>
                </a:solidFill>
                <a:latin typeface="Microsoft YaHei"/>
                <a:ea typeface="Microsoft YaHei"/>
              </a:rPr>
              <a:t>限制与未来工作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80160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128016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检测小目标仍是短板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AP small 仅 9.13%；后续可引入更高分辨率、P2 特征增强或 Transformer 检测器。</a:t>
            </a:r>
          </a:p>
        </p:txBody>
      </p:sp>
      <p:sp>
        <p:nvSpPr>
          <p:cNvPr id="6" name="Rectangle 5"/>
          <p:cNvSpPr/>
          <p:nvPr/>
        </p:nvSpPr>
        <p:spPr>
          <a:xfrm>
            <a:off x="640080" y="2377439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2377439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稀有类别样本不足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IP102 部分类只有几十个框；可用 IP102 原始 75k 分类图做弱监督/伪标签。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3474720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347472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分类 Macro-F1 接近瓶颈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可尝试层级 softmax、更强的数据增强、更大 backbone 或蒸馏。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4572000"/>
            <a:ext cx="146304" cy="822960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20" y="4572000"/>
            <a:ext cx="10515600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600" b="1">
                <a:solidFill>
                  <a:srgbClr val="0F172A"/>
                </a:solidFill>
                <a:latin typeface="Microsoft YaHei"/>
                <a:ea typeface="Microsoft YaHei"/>
              </a:rPr>
              <a:t>推理部署优化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475569"/>
                </a:solidFill>
                <a:latin typeface="Microsoft YaHei"/>
                <a:ea typeface="Microsoft YaHei"/>
              </a:rPr>
              <a:t>当前 PyTorch 权重较大；可导出 ONNX/TensorRT，检测可换 YOLO 系列。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E1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097280"/>
            <a:ext cx="1033272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3000" b="1">
                <a:solidFill>
                  <a:srgbClr val="FFFFFF"/>
                </a:solidFill>
                <a:latin typeface="Microsoft YaHei"/>
                <a:ea typeface="Microsoft YaHei"/>
              </a:rPr>
              <a:t>总结</a:t>
            </a:r>
          </a:p>
        </p:txBody>
      </p:sp>
      <p:sp>
        <p:nvSpPr>
          <p:cNvPr id="4" name="Oval 3"/>
          <p:cNvSpPr/>
          <p:nvPr/>
        </p:nvSpPr>
        <p:spPr>
          <a:xfrm>
            <a:off x="2011680" y="192024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468880" y="1847088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Plan-A 双专家架构成功解耦分类与检测，两个任务可独立优化、独立部署。</a:t>
            </a:r>
          </a:p>
        </p:txBody>
      </p:sp>
      <p:sp>
        <p:nvSpPr>
          <p:cNvPr id="6" name="Oval 5"/>
          <p:cNvSpPr/>
          <p:nvPr/>
        </p:nvSpPr>
        <p:spPr>
          <a:xfrm>
            <a:off x="2011680" y="260604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468880" y="2532888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分类专家 ConvNeXt-Tiny@384 取得 Top-1 89.22%、Macro-F1 75.35%。</a:t>
            </a:r>
          </a:p>
        </p:txBody>
      </p:sp>
      <p:sp>
        <p:nvSpPr>
          <p:cNvPr id="8" name="Oval 7"/>
          <p:cNvSpPr/>
          <p:nvPr/>
        </p:nvSpPr>
        <p:spPr>
          <a:xfrm>
            <a:off x="2011680" y="3291840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468880" y="3218688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检测专家 ConvNeXt-Tiny-FPN@640 取得 mAP 34.34%，Precision 88.16%。</a:t>
            </a:r>
          </a:p>
        </p:txBody>
      </p:sp>
      <p:sp>
        <p:nvSpPr>
          <p:cNvPr id="10" name="Oval 9"/>
          <p:cNvSpPr/>
          <p:nvPr/>
        </p:nvSpPr>
        <p:spPr>
          <a:xfrm>
            <a:off x="2011680" y="3977639"/>
            <a:ext cx="201168" cy="201168"/>
          </a:xfrm>
          <a:prstGeom prst="ellipse">
            <a:avLst/>
          </a:prstGeom>
          <a:solidFill>
            <a:srgbClr val="10B98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468880" y="3904487"/>
            <a:ext cx="804672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FFFFFF"/>
                </a:solidFill>
                <a:latin typeface="Microsoft YaHei"/>
                <a:ea typeface="Microsoft YaHei"/>
              </a:rPr>
              <a:t>完整数据工程、训练、评估、进度看板与 Web 应用均已实现并提交。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5212080"/>
            <a:ext cx="1033272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spcAft>
                <a:spcPts val="400"/>
              </a:spcAft>
            </a:pPr>
            <a:r>
              <a:rPr sz="1800" b="1">
                <a:solidFill>
                  <a:srgbClr val="10B981"/>
                </a:solidFill>
                <a:latin typeface="Microsoft YaHei"/>
                <a:ea typeface="Microsoft YaHei"/>
              </a:rPr>
              <a:t>感谢观看 · 欢迎提问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75720" y="6473952"/>
            <a:ext cx="548640" cy="274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r">
              <a:spcAft>
                <a:spcPts val="400"/>
              </a:spcAft>
            </a:pPr>
            <a:r>
              <a:rPr sz="1400" b="0">
                <a:solidFill>
                  <a:srgbClr val="475569"/>
                </a:solidFill>
                <a:latin typeface="Microsoft YaHei"/>
                <a:ea typeface="Microsoft YaHei"/>
              </a:rPr>
              <a:t>17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