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94360"/>
            <a:ext cx="3246120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MODEL
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48840"/>
            <a:ext cx="32461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DCEFE6"/>
                </a:solidFill>
                <a:latin typeface="Noto Sans CJK SC"/>
              </a:rPr>
              <a:t>共享主干 · 双任务头 · 单一权重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914400"/>
            <a:ext cx="662940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Noto Sans CJK SC"/>
              </a:rPr>
              <a:t>基于DLCPD-25数据集的
农产品病虫害与缺陷分类目标检测系统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578608"/>
            <a:ext cx="6309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65C8F"/>
                </a:solidFill>
                <a:latin typeface="Noto Sans CJK SC"/>
              </a:rPr>
              <a:t>当前实现：ResNet-50 + FPN + Faster R-CNN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3401568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6048" y="3483864"/>
            <a:ext cx="183794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203类整图分类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4336" y="3840480"/>
            <a:ext cx="180136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DLCPD-25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401568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7768" y="3483864"/>
            <a:ext cx="183794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96类害虫检测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6055" y="3840480"/>
            <a:ext cx="180136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IP102边界框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3401568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8" y="3483864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统一输入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7776" y="3840480"/>
            <a:ext cx="157276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RGB 224 × 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120640"/>
            <a:ext cx="6400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B54137"/>
                </a:solidFill>
                <a:latin typeface="Noto Sans CJK SC"/>
              </a:rPr>
              <a:t>状态：已完成分类预训练、10轮联合训练与最终测试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76072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B6674"/>
                </a:solidFill>
                <a:latin typeface="Noto Sans CJK SC"/>
              </a:rPr>
              <a:t>最终版本：2026-08-14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1. 总体模型架构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一张输入、一次共享主干前向、两个任务输出、一个联合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505456"/>
            <a:ext cx="101498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输入图片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862072"/>
            <a:ext cx="978408" cy="40233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任意尺寸 RGB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880360"/>
            <a:ext cx="320040" cy="0"/>
          </a:xfrm>
          <a:prstGeom prst="line">
            <a:avLst/>
          </a:prstGeom>
          <a:ln w="27940">
            <a:solidFill>
              <a:srgbClr val="B87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2148840"/>
            <a:ext cx="1874519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2231136"/>
            <a:ext cx="16550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统一预处理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587752"/>
            <a:ext cx="1618487" cy="9509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Noto Sans CJK SC"/>
              </a:rPr>
              <a:t>EXIF校正 → RGB
Bicubic直缩 224×224
ImageNet mean/std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2880360"/>
            <a:ext cx="32004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51960" y="2057400"/>
            <a:ext cx="2057400" cy="164592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139696"/>
            <a:ext cx="183794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227155"/>
                </a:solidFill>
                <a:latin typeface="Noto Sans CJK SC"/>
              </a:rPr>
              <a:t>共享 ResNet-50 主干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496312"/>
            <a:ext cx="180136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C2 / C3 / C4 / C5
只计算一次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309360" y="1874519"/>
            <a:ext cx="502920" cy="685801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09360" y="3200400"/>
            <a:ext cx="502920" cy="777239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12280" y="123444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8" y="1316736"/>
            <a:ext cx="17922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分类分支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1673352"/>
            <a:ext cx="1755648" cy="10424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C5(2048×7×7)
全局平均池化
Linear 2048→203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29184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3374136"/>
            <a:ext cx="17922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检测分支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3730752"/>
            <a:ext cx="175564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FPN → RPN → ROI Heads
Faster R-CNN
96前景类 + 背景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2011680"/>
            <a:ext cx="41148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23960" y="4114800"/>
            <a:ext cx="411480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35440" y="13258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7" y="1408176"/>
            <a:ext cx="2203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分类输出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1764792"/>
            <a:ext cx="21671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宿主 / 四大类 / 具体类别
Top-5 + 置信度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342900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7" y="3511296"/>
            <a:ext cx="2203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检测输出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3456" y="3867912"/>
            <a:ext cx="21671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害虫框 + 分数
映射为DLCPD-25 class_id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532120"/>
            <a:ext cx="65836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联合权重：共享主干 + 203类分类头 + FPN/RPN/ROI检测头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2. 共享特征与双分支细节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分类直接使用 C5；检测使用 C2-C5 构建多尺度 FPN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E7EBEE"/>
          </a:solidFill>
          <a:ln w="19050">
            <a:solidFill>
              <a:srgbClr val="5B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5B6674"/>
                </a:solidFill>
                <a:latin typeface="Noto Sans CJK SC"/>
              </a:rPr>
              <a:t>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7×7 Conv + MaxPool
输出 64×56×56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487168"/>
            <a:ext cx="32004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031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27155"/>
                </a:solidFill>
                <a:latin typeface="Noto Sans CJK SC"/>
              </a:rP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layer1
256×56×56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79" y="2487168"/>
            <a:ext cx="320041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033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27155"/>
                </a:solidFill>
                <a:latin typeface="Noto Sans CJK SC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5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layer2
512×28×28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83479" y="2487168"/>
            <a:ext cx="320041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035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27155"/>
                </a:solidFill>
                <a:latin typeface="Noto Sans CJK SC"/>
              </a:rP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layer3
1024×14×14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79" y="2487168"/>
            <a:ext cx="320041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03720" y="1828800"/>
            <a:ext cx="1280160" cy="132588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1911095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227155"/>
                </a:solidFill>
                <a:latin typeface="Noto Sans CJK SC"/>
              </a:rPr>
              <a:t>C5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2267712"/>
            <a:ext cx="1024127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Noto Sans CJK SC"/>
              </a:rPr>
              <a:t>layer4
2048×7×7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8183879" y="1481328"/>
            <a:ext cx="548641" cy="576072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32520" y="96012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42248" y="1042416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分类头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1399032"/>
            <a:ext cx="2075687" cy="9509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AdaptiveAvgPool
2048维向量
FC → 203 logits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70332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5C8F"/>
                </a:solidFill>
                <a:latin typeface="Noto Sans CJK SC"/>
              </a:rPr>
              <a:t>多尺度检测路径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40690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12848" y="4151376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P2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1136" y="4507992"/>
            <a:ext cx="1024127" cy="5394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256×56×56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40690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3048" y="4151376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P3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31335" y="4507992"/>
            <a:ext cx="1024127" cy="5394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256×28×28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0" y="40690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3248" y="4151376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P4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4507992"/>
            <a:ext cx="1024127" cy="5394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256×14×14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40690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13448" y="4151376"/>
            <a:ext cx="10607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P5/P6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736" y="4507992"/>
            <a:ext cx="1024127" cy="5394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256×7×7 / 4×4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43200" y="3163824"/>
            <a:ext cx="0" cy="886967"/>
          </a:xfrm>
          <a:prstGeom prst="line">
            <a:avLst/>
          </a:prstGeom>
          <a:ln w="1905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343400" y="3163824"/>
            <a:ext cx="0" cy="886967"/>
          </a:xfrm>
          <a:prstGeom prst="line">
            <a:avLst/>
          </a:prstGeom>
          <a:ln w="1905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3600" y="3163824"/>
            <a:ext cx="0" cy="886967"/>
          </a:xfrm>
          <a:prstGeom prst="line">
            <a:avLst/>
          </a:prstGeom>
          <a:ln w="1905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543800" y="3163824"/>
            <a:ext cx="0" cy="886967"/>
          </a:xfrm>
          <a:prstGeom prst="line">
            <a:avLst/>
          </a:prstGeom>
          <a:ln w="1905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183879" y="4590288"/>
            <a:ext cx="365761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549640" y="4160520"/>
            <a:ext cx="1051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9367" y="4242816"/>
            <a:ext cx="83210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RPN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7656" y="4599431"/>
            <a:ext cx="795527" cy="356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候选区域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601200" y="4590288"/>
            <a:ext cx="292608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893808" y="402336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03536" y="4105656"/>
            <a:ext cx="15636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5C8F"/>
                </a:solidFill>
                <a:latin typeface="Noto Sans CJK SC"/>
              </a:rPr>
              <a:t>ROI Heads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21824" y="4462272"/>
            <a:ext cx="152704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框回归 + 97类分类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715000"/>
            <a:ext cx="4983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265C8F"/>
                </a:solidFill>
                <a:latin typeface="Noto Sans CJK SC"/>
              </a:rPr>
              <a:t>注意：检测内部97类 = 96个害虫前景类 + 1个背景类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3. 双数据集交替联合训练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不是把两种标签混成一个 batch，而是分类 step 与检测 step 固定 1:1 交替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9616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分类初始化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56232"/>
            <a:ext cx="1572768" cy="6309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CJK SC"/>
              </a:rPr>
              <a:t>DLCPD-25训练25轮 + 适配5轮
Val Top-1 90.7837%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1993392"/>
            <a:ext cx="411480" cy="0"/>
          </a:xfrm>
          <a:prstGeom prst="line">
            <a:avLst/>
          </a:prstGeom>
          <a:ln w="27940">
            <a:solidFill>
              <a:srgbClr val="B87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353312"/>
            <a:ext cx="2331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1435608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构建联合模型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1792224"/>
            <a:ext cx="2075687" cy="7680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加载共享主干与分类头
随机初始化检测分支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1993392"/>
            <a:ext cx="36576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0" y="1353312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1435608"/>
            <a:ext cx="206654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同一联合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416" y="1792224"/>
            <a:ext cx="2029967" cy="7680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全部参数 + optimizer
 scheduler + AMP + RNG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0332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85615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DLCPD-25 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142231"/>
            <a:ext cx="1572768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分类标签
177,021张 train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23160" y="4297680"/>
            <a:ext cx="45720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80360" y="3520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0088" y="3602736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分类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3959352"/>
            <a:ext cx="2075687" cy="10424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交叉熵
更新：共享主干 + 分类头
冻结：检测分支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370332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3785615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IP102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3176" y="4142231"/>
            <a:ext cx="1572768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边界框标签
12,142张 train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3960" y="4297680"/>
            <a:ext cx="457200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81160" y="3520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3602736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检测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3959352"/>
            <a:ext cx="2075687" cy="10424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RPN + ROI损失
更新：共享主干 + 检测头
冻结：分类头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12080" y="4297680"/>
            <a:ext cx="1783080" cy="0"/>
          </a:xfrm>
          <a:prstGeom prst="line">
            <a:avLst/>
          </a:prstGeom>
          <a:ln w="31750">
            <a:solidFill>
              <a:srgbClr val="B54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577840" y="3867912"/>
            <a:ext cx="1051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B54137"/>
                </a:solidFill>
                <a:latin typeface="Noto Sans CJK SC"/>
              </a:rPr>
              <a:t>1 : 1 交替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321808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227155"/>
                </a:solidFill>
                <a:latin typeface="Noto Sans CJK SC"/>
              </a:rPr>
              <a:t>分类 AMP FP16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321808"/>
            <a:ext cx="21031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1">
                <a:solidFill>
                  <a:srgbClr val="265C8F"/>
                </a:solidFill>
                <a:latin typeface="Noto Sans CJK SC"/>
              </a:rPr>
              <a:t>检测 FP32（避免 NaN）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4. 参数更新、学习率与模型选择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保护分类能力，同时让随机初始化的检测头更快适配 IP102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91056"/>
            <a:ext cx="25237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27155"/>
                </a:solidFill>
                <a:latin typeface="Noto Sans CJK SC"/>
              </a:rPr>
              <a:t>共享主干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947672"/>
            <a:ext cx="2487168" cy="9966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ResNet-50 body
学习率 1e-5
分类/检测 step 都更新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0876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1591056"/>
            <a:ext cx="22494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B87F23"/>
                </a:solidFill>
                <a:latin typeface="Noto Sans CJK SC"/>
              </a:rPr>
              <a:t>203类分类头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5615" y="1947672"/>
            <a:ext cx="2212848" cy="9966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Linear(2048→203)
学习率 1e-5
仅分类 step 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2560320" cy="15087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91056"/>
            <a:ext cx="23408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65C8F"/>
                </a:solidFill>
                <a:latin typeface="Noto Sans CJK SC"/>
              </a:rPr>
              <a:t>检测分支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947672"/>
            <a:ext cx="2304287" cy="9966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FPN + RPN + ROI Heads
学习率 1e-4
仅检测 step 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0876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7" y="1591056"/>
            <a:ext cx="2112263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5B6674"/>
                </a:solidFill>
                <a:latin typeface="Noto Sans CJK SC"/>
              </a:rPr>
              <a:t>优化器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1947672"/>
            <a:ext cx="2075687" cy="99669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AdamW + Cosine Scheduler
Weight decay 1e-4
联合训练 10 epochs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38404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Noto Sans CJK SC"/>
              </a:rPr>
              <a:t>每个 epoch 分别评估两个 val 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96512"/>
            <a:ext cx="10789920" cy="16916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• 分类门槛：Top-1 ≥ 88.7837%（相对初始化最多下降2个百分点）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• 分类安全线：Top-1 &lt; 85% 自动停止，避免灾难性遗忘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• 门槛合格的 checkpoint 中，选择检测 mAP@0.5:0.95 最高者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• 训练过程不读取 test；冻结后分类/检测 test 各执行一次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Noto Sans CJK SC"/>
              </a:rPr>
              <a:t>5. 最终推理结果与能力边界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5B6674"/>
                </a:solidFill>
                <a:latin typeface="Noto Sans CJK SC"/>
              </a:rPr>
              <a:t>系统是一份联合权重，但两个任务的数据监督范围不同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11109960" cy="27432"/>
          </a:xfrm>
          <a:prstGeom prst="rect">
            <a:avLst/>
          </a:prstGeom>
          <a:solidFill>
            <a:srgbClr val="227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F9EED0"/>
          </a:solidFill>
          <a:ln w="19050">
            <a:solidFill>
              <a:srgbClr val="B87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276856"/>
            <a:ext cx="13350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B87F23"/>
                </a:solidFill>
                <a:latin typeface="Noto Sans CJK SC"/>
              </a:rPr>
              <a:t>上传一张图片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633472"/>
            <a:ext cx="1298448" cy="5852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原图保留用于展示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743200"/>
            <a:ext cx="411480" cy="0"/>
          </a:xfrm>
          <a:prstGeom prst="line">
            <a:avLst/>
          </a:prstGeom>
          <a:ln w="27940">
            <a:solidFill>
              <a:srgbClr val="B87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0" y="1920240"/>
            <a:ext cx="2194560" cy="164592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2002536"/>
            <a:ext cx="19751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27155"/>
                </a:solidFill>
                <a:latin typeface="Noto Sans CJK SC"/>
              </a:rPr>
              <a:t>联合模型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2359152"/>
            <a:ext cx="193852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一个224输入
一个ResNet-50主干
一次联合调用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754880" y="1737360"/>
            <a:ext cx="548640" cy="59436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3154680"/>
            <a:ext cx="548640" cy="68580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03520" y="1143000"/>
            <a:ext cx="2514600" cy="1645920"/>
          </a:xfrm>
          <a:prstGeom prst="roundRect">
            <a:avLst>
              <a:gd name="adj" fmla="val 8000"/>
            </a:avLst>
          </a:prstGeom>
          <a:solidFill>
            <a:srgbClr val="DCEFE6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1225296"/>
            <a:ext cx="22951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整图分类结果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1581912"/>
            <a:ext cx="225856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覆盖全部203类
害虫、病害、健康、缺陷
Top-5 + 置信度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246120"/>
            <a:ext cx="2514600" cy="16459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3328415"/>
            <a:ext cx="229514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目标检测结果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3685031"/>
            <a:ext cx="2258568" cy="1133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只覆盖96类IP102害虫
可输出多框或无框
框坐标还原到原图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1965960"/>
            <a:ext cx="502920" cy="0"/>
          </a:xfrm>
          <a:prstGeom prst="line">
            <a:avLst/>
          </a:prstGeom>
          <a:ln w="27940">
            <a:solidFill>
              <a:srgbClr val="227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8120" y="4069080"/>
            <a:ext cx="502920" cy="0"/>
          </a:xfrm>
          <a:prstGeom prst="line">
            <a:avLst/>
          </a:prstGeom>
          <a:ln w="27940">
            <a:solidFill>
              <a:srgbClr val="265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75320" y="128016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7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1362456"/>
            <a:ext cx="15179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27155"/>
                </a:solidFill>
                <a:latin typeface="Noto Sans CJK SC"/>
              </a:rPr>
              <a:t>页面展示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1719072"/>
            <a:ext cx="14813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作物/四大类/细类
Top-5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6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3557015"/>
            <a:ext cx="151790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65C8F"/>
                </a:solidFill>
                <a:latin typeface="Noto Sans CJK SC"/>
              </a:rPr>
              <a:t>页面叠框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3913631"/>
            <a:ext cx="1481328" cy="7223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Noto Sans CJK SC"/>
              </a:rPr>
              <a:t>类别名/分数/位置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2057400"/>
            <a:ext cx="1554480" cy="2331720"/>
          </a:xfrm>
          <a:prstGeom prst="roundRect">
            <a:avLst>
              <a:gd name="adj" fmla="val 8000"/>
            </a:avLst>
          </a:prstGeom>
          <a:solidFill>
            <a:srgbClr val="F9E2DE"/>
          </a:solidFill>
          <a:ln w="19050">
            <a:solidFill>
              <a:srgbClr val="B5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13848" y="2139696"/>
            <a:ext cx="1335024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B54137"/>
                </a:solidFill>
                <a:latin typeface="Noto Sans CJK SC"/>
              </a:rPr>
              <a:t>明确限制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2136" y="2496312"/>
            <a:ext cx="1298448" cy="181965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SC"/>
              </a:rPr>
              <a:t>病害与缺陷没有IP102框标注
因此只能分类
不能承诺定位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69280"/>
            <a:ext cx="99669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B54137"/>
                </a:solidFill>
                <a:latin typeface="Noto Sans CJK SC"/>
              </a:rPr>
              <a:t>最终发布：一个 checkpoint，不同时部署旧分类模型与单独检测模型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384048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5B6674"/>
                </a:solidFill>
                <a:latin typeface="Noto Sans CJK SC"/>
              </a:rPr>
              <a:t>DLCPD-25 + IP102 | 当前代码架构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5B6674"/>
                </a:solidFill>
                <a:latin typeface="Noto Sans CJK S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